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9" r:id="rId3"/>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userDrawn="1">
          <p15:clr>
            <a:srgbClr val="A4A3A4"/>
          </p15:clr>
        </p15:guide>
        <p15:guide id="3" pos="2547" userDrawn="1">
          <p15:clr>
            <a:srgbClr val="A4A3A4"/>
          </p15:clr>
        </p15:guide>
        <p15:guide id="4" pos="5133" userDrawn="1">
          <p15:clr>
            <a:srgbClr val="A4A3A4"/>
          </p15:clr>
        </p15:guide>
        <p15:guide id="5" pos="7680" userDrawn="1">
          <p15:clr>
            <a:srgbClr val="A4A3A4"/>
          </p15:clr>
        </p15:guide>
        <p15:guide id="7" orient="horz" pos="4315" userDrawn="1">
          <p15:clr>
            <a:srgbClr val="A4A3A4"/>
          </p15:clr>
        </p15:guide>
        <p15:guide id="8" orient="horz" userDrawn="1">
          <p15:clr>
            <a:srgbClr val="A4A3A4"/>
          </p15:clr>
        </p15:guide>
        <p15:guide id="9" pos="143" userDrawn="1">
          <p15:clr>
            <a:srgbClr val="A4A3A4"/>
          </p15:clr>
        </p15:guide>
        <p15:guide id="10" pos="7537" userDrawn="1">
          <p15:clr>
            <a:srgbClr val="A4A3A4"/>
          </p15:clr>
        </p15:guide>
        <p15:guide id="11" orient="horz" pos="142" userDrawn="1">
          <p15:clr>
            <a:srgbClr val="A4A3A4"/>
          </p15:clr>
        </p15:guide>
        <p15:guide id="12" orient="horz" pos="4201" userDrawn="1">
          <p15:clr>
            <a:srgbClr val="A4A3A4"/>
          </p15:clr>
        </p15:guide>
        <p15:guide id="13" pos="2434" userDrawn="1">
          <p15:clr>
            <a:srgbClr val="A4A3A4"/>
          </p15:clr>
        </p15:guide>
        <p15:guide id="14" pos="2683" userDrawn="1">
          <p15:clr>
            <a:srgbClr val="A4A3A4"/>
          </p15:clr>
        </p15:guide>
        <p15:guide id="15" pos="5019" userDrawn="1">
          <p15:clr>
            <a:srgbClr val="A4A3A4"/>
          </p15:clr>
        </p15:guide>
        <p15:guide id="16" pos="52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8" autoAdjust="0"/>
    <p:restoredTop sz="94660"/>
  </p:normalViewPr>
  <p:slideViewPr>
    <p:cSldViewPr snapToGrid="0">
      <p:cViewPr>
        <p:scale>
          <a:sx n="100" d="100"/>
          <a:sy n="100" d="100"/>
        </p:scale>
        <p:origin x="259" y="-744"/>
      </p:cViewPr>
      <p:guideLst>
        <p:guide orient="horz" pos="4320"/>
        <p:guide/>
        <p:guide pos="2547"/>
        <p:guide pos="5133"/>
        <p:guide pos="7680"/>
        <p:guide orient="horz" pos="4315"/>
        <p:guide orient="horz"/>
        <p:guide pos="143"/>
        <p:guide pos="7537"/>
        <p:guide orient="horz" pos="142"/>
        <p:guide orient="horz" pos="4201"/>
        <p:guide pos="2434"/>
        <p:guide pos="2683"/>
        <p:guide pos="5019"/>
        <p:guide pos="526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F9289981-CB10-4B73-B424-DB98C536FC2F}" type="datetimeFigureOut">
              <a:rPr lang="en-IN" smtClean="0"/>
              <a:t>04-04-2026</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3297EB26-BF31-468E-98FD-AFD309A7A492}" type="slidenum">
              <a:rPr lang="en-IN" smtClean="0"/>
              <a:t>‹#›</a:t>
            </a:fld>
            <a:endParaRPr lang="en-IN"/>
          </a:p>
        </p:txBody>
      </p:sp>
    </p:spTree>
    <p:extLst>
      <p:ext uri="{BB962C8B-B14F-4D97-AF65-F5344CB8AC3E}">
        <p14:creationId xmlns:p14="http://schemas.microsoft.com/office/powerpoint/2010/main" val="1157833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97EB26-BF31-468E-98FD-AFD309A7A492}" type="slidenum">
              <a:rPr lang="en-IN" smtClean="0"/>
              <a:t>2</a:t>
            </a:fld>
            <a:endParaRPr lang="en-IN"/>
          </a:p>
        </p:txBody>
      </p:sp>
    </p:spTree>
    <p:extLst>
      <p:ext uri="{BB962C8B-B14F-4D97-AF65-F5344CB8AC3E}">
        <p14:creationId xmlns:p14="http://schemas.microsoft.com/office/powerpoint/2010/main" val="152387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32654-42BB-58BC-41CB-49DF1A58B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E42008-5B67-87FE-39BD-FEEEAE5B06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F74C33-EEE2-7D2F-FBF0-8E3AC1E1BFD0}"/>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371E1BDE-57E0-7454-AEF6-6F6AE88A9A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AE00E-D135-D9D2-B274-0226F91C77BC}"/>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911165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84C93-584E-4B03-6B52-4B2024E9AE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F61D22-C353-515D-A9C6-A69FE34A7D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072B4B-73C8-2112-1C9E-7B514932B8A5}"/>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071DF485-D133-20C1-9CA0-2A08403AE9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7C4457-9118-4A61-85C9-63891501DA71}"/>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195302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707A9-64B3-3D4B-71E6-F8F9070435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288519-55D4-3D1D-23B8-84D1EA3D20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131F5F-DACD-DC20-6858-0A7ECE98E688}"/>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98951F85-5A6B-B920-0E84-598B9F9F4C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39E25C-392A-B620-3996-F8E6BE6E7F52}"/>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412230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798B-80AA-032B-E4FD-73B4D2D4AA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A2B033-487F-F2A5-7233-7663F2E162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A05D3E-86F4-2552-F99E-B5B61B5C7C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1AC801-D3FE-7AEB-9A92-C1686C806C24}"/>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6" name="Footer Placeholder 5">
            <a:extLst>
              <a:ext uri="{FF2B5EF4-FFF2-40B4-BE49-F238E27FC236}">
                <a16:creationId xmlns:a16="http://schemas.microsoft.com/office/drawing/2014/main" id="{27967DCA-E7F3-1D49-F3EA-DDD72BD4F1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AA887C-9A0E-901C-A114-8527209AD3C3}"/>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3735718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2A465-AE6F-C5BA-7549-A279CD7955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4D807E-7B35-A252-62A2-807A103340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CF8A1E-D53D-CAA4-AB3B-B16CEEF1C4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070598-4B17-9681-26E1-EB229282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6DB68-796D-6FBA-9058-375C5ABAE3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3EADAB-EA71-0A23-E614-3DFB6D19168D}"/>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8" name="Footer Placeholder 7">
            <a:extLst>
              <a:ext uri="{FF2B5EF4-FFF2-40B4-BE49-F238E27FC236}">
                <a16:creationId xmlns:a16="http://schemas.microsoft.com/office/drawing/2014/main" id="{1C4E67BB-EEF9-F562-0181-0F64E404CE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F319C0-FD63-CFE2-2D71-E53F5BDAB334}"/>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1399010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98258-F8C9-BD74-730F-3545712E88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A57A5B-96FE-D149-AE38-9F82E3875A03}"/>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4" name="Footer Placeholder 3">
            <a:extLst>
              <a:ext uri="{FF2B5EF4-FFF2-40B4-BE49-F238E27FC236}">
                <a16:creationId xmlns:a16="http://schemas.microsoft.com/office/drawing/2014/main" id="{7264D925-B61E-4FCD-D2B7-5B4991B5FC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CC48E0-8109-AD00-0E70-8513D410B8FA}"/>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3001934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4553E3-0679-7E9C-A450-E232F8EBECDA}"/>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3" name="Footer Placeholder 2">
            <a:extLst>
              <a:ext uri="{FF2B5EF4-FFF2-40B4-BE49-F238E27FC236}">
                <a16:creationId xmlns:a16="http://schemas.microsoft.com/office/drawing/2014/main" id="{86A243C1-D568-E3D9-7FE9-4E98174F8E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851C9C-73EF-42E2-53B0-F18F6C0F8975}"/>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10272050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01B8-FAC2-AFE1-4D2C-9F752C6D4C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EF61A5-0727-6996-CE05-189456690E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FEABF8-CB9E-525D-521D-651191D3D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93864-46A4-BA10-C306-B880B73C2791}"/>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6" name="Footer Placeholder 5">
            <a:extLst>
              <a:ext uri="{FF2B5EF4-FFF2-40B4-BE49-F238E27FC236}">
                <a16:creationId xmlns:a16="http://schemas.microsoft.com/office/drawing/2014/main" id="{4F25F78F-6BDE-90FC-95C8-6FD382CB62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6024F9-1D55-6ECB-D7E6-C51D69D9746B}"/>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413744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81E7B-E7D4-3AFE-6791-D75DA3F11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61B052-5DF1-5173-9E2E-007EA80AE8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5B2AE1-9F64-8FF6-1944-D46A3F21C2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5CA20-97E6-79FE-0704-152EAB3E55E4}"/>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6" name="Footer Placeholder 5">
            <a:extLst>
              <a:ext uri="{FF2B5EF4-FFF2-40B4-BE49-F238E27FC236}">
                <a16:creationId xmlns:a16="http://schemas.microsoft.com/office/drawing/2014/main" id="{A389BC82-B340-221F-21FD-EC8DA4BFE9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06E7A6-CCDB-EAE6-C414-81186225DD68}"/>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3727828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CD8FD-BCAD-83F4-F2AA-3E3C8F7FED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0D687B-0DF1-7427-76FE-A64A22EE9D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2ED01C-432C-A984-F7A8-A105A069460F}"/>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894D79DD-0D83-0513-F8B0-DA8008FE40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E75BFA-4F0B-11E1-EB10-F9E89587E8BB}"/>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154566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3EFACB-18D4-0CD6-BF94-9D14D624AE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E8C8C1-376B-8911-70C5-7A4E0336F3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CA0924-D5FF-ADF4-E4C9-77856547142F}"/>
              </a:ext>
            </a:extLst>
          </p:cNvPr>
          <p:cNvSpPr>
            <a:spLocks noGrp="1"/>
          </p:cNvSpPr>
          <p:nvPr>
            <p:ph type="dt" sz="half" idx="10"/>
          </p:nvPr>
        </p:nvSpPr>
        <p:spPr/>
        <p:txBody>
          <a:body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F1EA5379-5AA0-A380-9C10-4CB9DDF7C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A0486F-3809-038D-305F-2DF3705C96A2}"/>
              </a:ext>
            </a:extLst>
          </p:cNvPr>
          <p:cNvSpPr>
            <a:spLocks noGrp="1"/>
          </p:cNvSpPr>
          <p:nvPr>
            <p:ph type="sldNum" sz="quarter" idx="12"/>
          </p:nvPr>
        </p:nvSpPr>
        <p:spPr/>
        <p:txBody>
          <a:bodyPr/>
          <a:lstStyle/>
          <a:p>
            <a:fld id="{1D0F5780-5F0D-4A1E-98BF-C53EF7D662FE}" type="slidenum">
              <a:rPr lang="en-IN" smtClean="0"/>
              <a:t>‹#›</a:t>
            </a:fld>
            <a:endParaRPr lang="en-IN"/>
          </a:p>
        </p:txBody>
      </p:sp>
    </p:spTree>
    <p:extLst>
      <p:ext uri="{BB962C8B-B14F-4D97-AF65-F5344CB8AC3E}">
        <p14:creationId xmlns:p14="http://schemas.microsoft.com/office/powerpoint/2010/main" val="116638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EDD5AA-CA2A-D7AB-6C31-5FEF7035F3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28115F-9945-597C-5B9C-0C24C0CE2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B6E048-3D46-E53E-0059-B982550C3A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DC26A2-73B4-4F2A-946F-D2BAB25A8BF1}" type="datetimeFigureOut">
              <a:rPr lang="en-IN" smtClean="0"/>
              <a:t>04-04-2026</a:t>
            </a:fld>
            <a:endParaRPr lang="en-IN"/>
          </a:p>
        </p:txBody>
      </p:sp>
      <p:sp>
        <p:nvSpPr>
          <p:cNvPr id="5" name="Footer Placeholder 4">
            <a:extLst>
              <a:ext uri="{FF2B5EF4-FFF2-40B4-BE49-F238E27FC236}">
                <a16:creationId xmlns:a16="http://schemas.microsoft.com/office/drawing/2014/main" id="{32E893FE-A553-F44E-3B26-A36958EE55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1C5821-8D21-3847-2AFC-0EED2B9A4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0F5780-5F0D-4A1E-98BF-C53EF7D662FE}" type="slidenum">
              <a:rPr lang="en-IN" smtClean="0"/>
              <a:t>‹#›</a:t>
            </a:fld>
            <a:endParaRPr lang="en-IN"/>
          </a:p>
        </p:txBody>
      </p:sp>
    </p:spTree>
    <p:extLst>
      <p:ext uri="{BB962C8B-B14F-4D97-AF65-F5344CB8AC3E}">
        <p14:creationId xmlns:p14="http://schemas.microsoft.com/office/powerpoint/2010/main" val="2848093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mailto:ripe2027@mitindia.ed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06DF819-B711-1F21-517A-5B229FC5050F}"/>
              </a:ext>
            </a:extLst>
          </p:cNvPr>
          <p:cNvGrpSpPr/>
          <p:nvPr/>
        </p:nvGrpSpPr>
        <p:grpSpPr>
          <a:xfrm>
            <a:off x="0" y="0"/>
            <a:ext cx="12192000" cy="6858000"/>
            <a:chOff x="0" y="0"/>
            <a:chExt cx="9909111" cy="6858000"/>
          </a:xfrm>
          <a:solidFill>
            <a:schemeClr val="bg1"/>
          </a:solidFill>
        </p:grpSpPr>
        <p:sp>
          <p:nvSpPr>
            <p:cNvPr id="4" name="Rectangle 3">
              <a:extLst>
                <a:ext uri="{FF2B5EF4-FFF2-40B4-BE49-F238E27FC236}">
                  <a16:creationId xmlns:a16="http://schemas.microsoft.com/office/drawing/2014/main" id="{8DAB1C0F-16CB-2E08-80EE-B360A8F6887C}"/>
                </a:ext>
              </a:extLst>
            </p:cNvPr>
            <p:cNvSpPr/>
            <p:nvPr/>
          </p:nvSpPr>
          <p:spPr>
            <a:xfrm>
              <a:off x="0" y="0"/>
              <a:ext cx="3303037"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486E06C-D5DD-3817-AF69-578B8C16958F}"/>
                </a:ext>
              </a:extLst>
            </p:cNvPr>
            <p:cNvSpPr/>
            <p:nvPr/>
          </p:nvSpPr>
          <p:spPr>
            <a:xfrm>
              <a:off x="3303037" y="0"/>
              <a:ext cx="3303037"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IN" dirty="0"/>
            </a:p>
          </p:txBody>
        </p:sp>
        <p:sp>
          <p:nvSpPr>
            <p:cNvPr id="8" name="Rectangle 7">
              <a:extLst>
                <a:ext uri="{FF2B5EF4-FFF2-40B4-BE49-F238E27FC236}">
                  <a16:creationId xmlns:a16="http://schemas.microsoft.com/office/drawing/2014/main" id="{CF886872-0A95-9CC4-41FA-B0A846E57DA4}"/>
                </a:ext>
              </a:extLst>
            </p:cNvPr>
            <p:cNvSpPr/>
            <p:nvPr/>
          </p:nvSpPr>
          <p:spPr>
            <a:xfrm>
              <a:off x="6606074" y="0"/>
              <a:ext cx="3303037"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TextBox 9">
            <a:extLst>
              <a:ext uri="{FF2B5EF4-FFF2-40B4-BE49-F238E27FC236}">
                <a16:creationId xmlns:a16="http://schemas.microsoft.com/office/drawing/2014/main" id="{BADA50B2-0D6E-338A-BB98-CD873D9126F1}"/>
              </a:ext>
            </a:extLst>
          </p:cNvPr>
          <p:cNvSpPr txBox="1"/>
          <p:nvPr/>
        </p:nvSpPr>
        <p:spPr>
          <a:xfrm>
            <a:off x="8490246" y="282380"/>
            <a:ext cx="3391382" cy="1692771"/>
          </a:xfrm>
          <a:prstGeom prst="rect">
            <a:avLst/>
          </a:prstGeom>
          <a:noFill/>
        </p:spPr>
        <p:txBody>
          <a:bodyPr wrap="square" rtlCol="0">
            <a:spAutoFit/>
          </a:bodyPr>
          <a:lstStyle/>
          <a:p>
            <a:pPr algn="ctr"/>
            <a:r>
              <a:rPr lang="en-US" sz="1000" b="1" i="1" dirty="0">
                <a:solidFill>
                  <a:srgbClr val="FF0000"/>
                </a:solidFill>
              </a:rPr>
              <a:t>Celebrating 50 Years of Excellence (Golden Jubilee)</a:t>
            </a:r>
          </a:p>
          <a:p>
            <a:pPr algn="ctr"/>
            <a:r>
              <a:rPr lang="en-US" sz="1000" b="1" i="1" dirty="0">
                <a:solidFill>
                  <a:srgbClr val="FF0000"/>
                </a:solidFill>
              </a:rPr>
              <a:t>(1977–2027)</a:t>
            </a:r>
          </a:p>
          <a:p>
            <a:pPr algn="ctr"/>
            <a:endParaRPr lang="en-US" sz="700" b="1" dirty="0">
              <a:solidFill>
                <a:srgbClr val="FF0000"/>
              </a:solidFill>
            </a:endParaRPr>
          </a:p>
          <a:p>
            <a:pPr algn="ctr"/>
            <a:r>
              <a:rPr lang="en-US" sz="1200" b="1" dirty="0">
                <a:solidFill>
                  <a:srgbClr val="FF0000"/>
                </a:solidFill>
              </a:rPr>
              <a:t>3</a:t>
            </a:r>
            <a:r>
              <a:rPr lang="en-US" sz="1200" b="1" baseline="30000" dirty="0">
                <a:solidFill>
                  <a:srgbClr val="FF0000"/>
                </a:solidFill>
              </a:rPr>
              <a:t>rd</a:t>
            </a:r>
            <a:r>
              <a:rPr lang="en-US" sz="1200" b="1" dirty="0">
                <a:solidFill>
                  <a:srgbClr val="FF0000"/>
                </a:solidFill>
              </a:rPr>
              <a:t> INTERNATIONAL CONFERENCE ON </a:t>
            </a:r>
          </a:p>
          <a:p>
            <a:pPr algn="ctr"/>
            <a:r>
              <a:rPr lang="en-US" sz="1200" b="1" dirty="0">
                <a:solidFill>
                  <a:srgbClr val="FF0000"/>
                </a:solidFill>
              </a:rPr>
              <a:t>RECENT INNOVATIONS IN </a:t>
            </a:r>
          </a:p>
          <a:p>
            <a:pPr algn="ctr">
              <a:spcAft>
                <a:spcPts val="600"/>
              </a:spcAft>
            </a:pPr>
            <a:r>
              <a:rPr lang="en-US" sz="1200" b="1" dirty="0">
                <a:solidFill>
                  <a:srgbClr val="FF0000"/>
                </a:solidFill>
              </a:rPr>
              <a:t>PRODUCTION ENGINEERING </a:t>
            </a:r>
          </a:p>
          <a:p>
            <a:pPr algn="ctr"/>
            <a:r>
              <a:rPr lang="en-US" sz="1600" b="1" dirty="0">
                <a:solidFill>
                  <a:srgbClr val="FF0000"/>
                </a:solidFill>
              </a:rPr>
              <a:t>RIPE 2027</a:t>
            </a:r>
          </a:p>
          <a:p>
            <a:pPr algn="ctr"/>
            <a:endParaRPr lang="en-US" sz="900" b="1" dirty="0"/>
          </a:p>
          <a:p>
            <a:pPr algn="ctr"/>
            <a:r>
              <a:rPr lang="en-US" sz="1100" b="1" dirty="0">
                <a:solidFill>
                  <a:schemeClr val="accent5"/>
                </a:solidFill>
              </a:rPr>
              <a:t>22</a:t>
            </a:r>
            <a:r>
              <a:rPr lang="en-US" sz="1100" b="1" baseline="30000" dirty="0">
                <a:solidFill>
                  <a:schemeClr val="accent5"/>
                </a:solidFill>
              </a:rPr>
              <a:t>nd</a:t>
            </a:r>
            <a:r>
              <a:rPr lang="en-US" sz="1100" b="1" dirty="0">
                <a:solidFill>
                  <a:schemeClr val="accent5"/>
                </a:solidFill>
              </a:rPr>
              <a:t> – 23</a:t>
            </a:r>
            <a:r>
              <a:rPr lang="en-US" sz="1100" b="1" baseline="30000" dirty="0">
                <a:solidFill>
                  <a:schemeClr val="accent5"/>
                </a:solidFill>
              </a:rPr>
              <a:t>rd</a:t>
            </a:r>
            <a:r>
              <a:rPr lang="en-US" sz="1100" b="1" dirty="0">
                <a:solidFill>
                  <a:schemeClr val="accent5"/>
                </a:solidFill>
              </a:rPr>
              <a:t> January 2027 (FRIDAY-SATURDAY)</a:t>
            </a:r>
            <a:endParaRPr lang="en-IN" sz="1100" b="1" dirty="0">
              <a:solidFill>
                <a:schemeClr val="accent5"/>
              </a:solidFill>
            </a:endParaRPr>
          </a:p>
        </p:txBody>
      </p:sp>
      <p:pic>
        <p:nvPicPr>
          <p:cNvPr id="12" name="object 44">
            <a:extLst>
              <a:ext uri="{FF2B5EF4-FFF2-40B4-BE49-F238E27FC236}">
                <a16:creationId xmlns:a16="http://schemas.microsoft.com/office/drawing/2014/main" id="{A5CDF26E-E870-335E-BAB0-6B64CF6BDF5A}"/>
              </a:ext>
            </a:extLst>
          </p:cNvPr>
          <p:cNvPicPr/>
          <p:nvPr/>
        </p:nvPicPr>
        <p:blipFill>
          <a:blip r:embed="rId2" cstate="print"/>
          <a:stretch>
            <a:fillRect/>
          </a:stretch>
        </p:blipFill>
        <p:spPr>
          <a:xfrm>
            <a:off x="8509773" y="1926238"/>
            <a:ext cx="755247" cy="745702"/>
          </a:xfrm>
          <a:prstGeom prst="rect">
            <a:avLst/>
          </a:prstGeom>
        </p:spPr>
      </p:pic>
      <p:pic>
        <p:nvPicPr>
          <p:cNvPr id="13" name="object 70">
            <a:extLst>
              <a:ext uri="{FF2B5EF4-FFF2-40B4-BE49-F238E27FC236}">
                <a16:creationId xmlns:a16="http://schemas.microsoft.com/office/drawing/2014/main" id="{F0B49D8C-E751-35E8-639E-EADE848D9164}"/>
              </a:ext>
            </a:extLst>
          </p:cNvPr>
          <p:cNvPicPr/>
          <p:nvPr/>
        </p:nvPicPr>
        <p:blipFill>
          <a:blip r:embed="rId3" cstate="print"/>
          <a:stretch>
            <a:fillRect/>
          </a:stretch>
        </p:blipFill>
        <p:spPr>
          <a:xfrm>
            <a:off x="10985749" y="2054687"/>
            <a:ext cx="895879" cy="537717"/>
          </a:xfrm>
          <a:prstGeom prst="rect">
            <a:avLst/>
          </a:prstGeom>
        </p:spPr>
      </p:pic>
      <p:sp>
        <p:nvSpPr>
          <p:cNvPr id="14" name="TextBox 13">
            <a:extLst>
              <a:ext uri="{FF2B5EF4-FFF2-40B4-BE49-F238E27FC236}">
                <a16:creationId xmlns:a16="http://schemas.microsoft.com/office/drawing/2014/main" id="{34AD73FC-01CB-3B99-720C-82BD1E2CBA5E}"/>
              </a:ext>
            </a:extLst>
          </p:cNvPr>
          <p:cNvSpPr txBox="1"/>
          <p:nvPr/>
        </p:nvSpPr>
        <p:spPr>
          <a:xfrm>
            <a:off x="8490246" y="5337588"/>
            <a:ext cx="3391382" cy="1384995"/>
          </a:xfrm>
          <a:prstGeom prst="rect">
            <a:avLst/>
          </a:prstGeom>
          <a:noFill/>
        </p:spPr>
        <p:txBody>
          <a:bodyPr wrap="square" rtlCol="0">
            <a:spAutoFit/>
          </a:bodyPr>
          <a:lstStyle/>
          <a:p>
            <a:pPr algn="ctr"/>
            <a:r>
              <a:rPr lang="en-US" sz="1200" b="1" i="1" dirty="0" err="1">
                <a:solidFill>
                  <a:schemeClr val="accent5"/>
                </a:solidFill>
              </a:rPr>
              <a:t>Organised</a:t>
            </a:r>
            <a:r>
              <a:rPr lang="en-US" sz="1200" b="1" i="1" dirty="0">
                <a:solidFill>
                  <a:schemeClr val="accent5"/>
                </a:solidFill>
              </a:rPr>
              <a:t> by</a:t>
            </a:r>
          </a:p>
          <a:p>
            <a:pPr algn="ctr"/>
            <a:r>
              <a:rPr lang="en-US" sz="1200" b="1" dirty="0">
                <a:solidFill>
                  <a:schemeClr val="accent5"/>
                </a:solidFill>
              </a:rPr>
              <a:t>Department of Production Technology</a:t>
            </a:r>
          </a:p>
          <a:p>
            <a:pPr algn="ctr"/>
            <a:r>
              <a:rPr lang="en-US" sz="1200" b="1" dirty="0">
                <a:solidFill>
                  <a:schemeClr val="accent5"/>
                </a:solidFill>
              </a:rPr>
              <a:t>Madras Institute of Technology Campus</a:t>
            </a:r>
          </a:p>
          <a:p>
            <a:pPr algn="ctr"/>
            <a:r>
              <a:rPr lang="en-US" sz="1200" b="1" dirty="0">
                <a:solidFill>
                  <a:schemeClr val="accent5"/>
                </a:solidFill>
              </a:rPr>
              <a:t>Anna University</a:t>
            </a:r>
          </a:p>
          <a:p>
            <a:pPr algn="ctr"/>
            <a:r>
              <a:rPr lang="en-US" sz="1200" b="1" dirty="0">
                <a:solidFill>
                  <a:schemeClr val="accent5"/>
                </a:solidFill>
              </a:rPr>
              <a:t>Chennai, Tamil Nadu, India</a:t>
            </a:r>
          </a:p>
          <a:p>
            <a:pPr algn="ctr"/>
            <a:endParaRPr lang="en-US" sz="1200" b="1" dirty="0"/>
          </a:p>
          <a:p>
            <a:pPr algn="ctr"/>
            <a:r>
              <a:rPr lang="en-US" sz="1200" b="1" dirty="0">
                <a:solidFill>
                  <a:schemeClr val="accent5"/>
                </a:solidFill>
              </a:rPr>
              <a:t>www.ripe2027.mitindia.edu</a:t>
            </a:r>
            <a:endParaRPr lang="en-IN" sz="1100" b="1" dirty="0"/>
          </a:p>
        </p:txBody>
      </p:sp>
      <p:graphicFrame>
        <p:nvGraphicFramePr>
          <p:cNvPr id="3" name="Table 2">
            <a:extLst>
              <a:ext uri="{FF2B5EF4-FFF2-40B4-BE49-F238E27FC236}">
                <a16:creationId xmlns:a16="http://schemas.microsoft.com/office/drawing/2014/main" id="{C1FEE544-6E47-5655-0DEA-18CAF4542A60}"/>
              </a:ext>
            </a:extLst>
          </p:cNvPr>
          <p:cNvGraphicFramePr>
            <a:graphicFrameLocks noGrp="1"/>
          </p:cNvGraphicFramePr>
          <p:nvPr>
            <p:extLst>
              <p:ext uri="{D42A27DB-BD31-4B8C-83A1-F6EECF244321}">
                <p14:modId xmlns:p14="http://schemas.microsoft.com/office/powerpoint/2010/main" val="2561432866"/>
              </p:ext>
            </p:extLst>
          </p:nvPr>
        </p:nvGraphicFramePr>
        <p:xfrm>
          <a:off x="4259263" y="166339"/>
          <a:ext cx="3708399" cy="3611880"/>
        </p:xfrm>
        <a:graphic>
          <a:graphicData uri="http://schemas.openxmlformats.org/drawingml/2006/table">
            <a:tbl>
              <a:tblPr bandRow="1">
                <a:tableStyleId>{5C22544A-7EE6-4342-B048-85BDC9FD1C3A}</a:tableStyleId>
              </a:tblPr>
              <a:tblGrid>
                <a:gridCol w="1659216">
                  <a:extLst>
                    <a:ext uri="{9D8B030D-6E8A-4147-A177-3AD203B41FA5}">
                      <a16:colId xmlns:a16="http://schemas.microsoft.com/office/drawing/2014/main" val="441166393"/>
                    </a:ext>
                  </a:extLst>
                </a:gridCol>
                <a:gridCol w="2049183">
                  <a:extLst>
                    <a:ext uri="{9D8B030D-6E8A-4147-A177-3AD203B41FA5}">
                      <a16:colId xmlns:a16="http://schemas.microsoft.com/office/drawing/2014/main" val="3855379556"/>
                    </a:ext>
                  </a:extLst>
                </a:gridCol>
              </a:tblGrid>
              <a:tr h="180000">
                <a:tc gridSpan="2">
                  <a:txBody>
                    <a:bodyPr/>
                    <a:lstStyle/>
                    <a:p>
                      <a:pPr algn="ctr"/>
                      <a:r>
                        <a:rPr lang="en-IN" sz="800" b="1" i="0" kern="1200" dirty="0">
                          <a:solidFill>
                            <a:schemeClr val="tx1"/>
                          </a:solidFill>
                          <a:effectLst/>
                          <a:latin typeface="+mn-lt"/>
                          <a:ea typeface="+mn-ea"/>
                          <a:cs typeface="+mn-cs"/>
                        </a:rPr>
                        <a:t>ORGANIZING TEAM</a:t>
                      </a:r>
                      <a:endParaRPr lang="en-IN" sz="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IN" dirty="0"/>
                    </a:p>
                  </a:txBody>
                  <a:tcPr>
                    <a:solidFill>
                      <a:schemeClr val="bg1"/>
                    </a:solidFill>
                  </a:tcPr>
                </a:tc>
                <a:extLst>
                  <a:ext uri="{0D108BD9-81ED-4DB2-BD59-A6C34878D82A}">
                    <a16:rowId xmlns:a16="http://schemas.microsoft.com/office/drawing/2014/main" val="643000230"/>
                  </a:ext>
                </a:extLst>
              </a:tr>
              <a:tr h="360000">
                <a:tc rowSpan="3">
                  <a:txBody>
                    <a:bodyPr/>
                    <a:lstStyle/>
                    <a:p>
                      <a:pPr algn="l"/>
                      <a:r>
                        <a:rPr lang="en-IN" sz="700" b="1" i="0" kern="1200" dirty="0">
                          <a:solidFill>
                            <a:schemeClr val="tx1"/>
                          </a:solidFill>
                          <a:effectLst/>
                          <a:latin typeface="+mn-lt"/>
                          <a:ea typeface="+mn-ea"/>
                          <a:cs typeface="+mn-cs"/>
                        </a:rPr>
                        <a:t>Chief Patrons :</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b="1" dirty="0">
                          <a:solidFill>
                            <a:schemeClr val="tx1"/>
                          </a:solidFill>
                        </a:rPr>
                        <a:t>Dr. P. Sankar IAS</a:t>
                      </a:r>
                    </a:p>
                    <a:p>
                      <a:pPr algn="l"/>
                      <a:r>
                        <a:rPr lang="en-US" sz="700" b="1" dirty="0">
                          <a:solidFill>
                            <a:schemeClr val="tx1"/>
                          </a:solidFill>
                        </a:rPr>
                        <a:t>Secretary to Government</a:t>
                      </a:r>
                    </a:p>
                    <a:p>
                      <a:pPr algn="l"/>
                      <a:r>
                        <a:rPr lang="en-US" sz="700" b="1" dirty="0">
                          <a:solidFill>
                            <a:schemeClr val="tx1"/>
                          </a:solidFill>
                        </a:rPr>
                        <a:t>Higher Education Department</a:t>
                      </a:r>
                    </a:p>
                    <a:p>
                      <a:pPr algn="l"/>
                      <a:r>
                        <a:rPr lang="en-US" sz="700" b="1" dirty="0">
                          <a:solidFill>
                            <a:schemeClr val="tx1"/>
                          </a:solidFill>
                        </a:rPr>
                        <a:t>Government of Tamil Nadu</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64920614"/>
                  </a:ext>
                </a:extLst>
              </a:tr>
              <a:tr h="360000">
                <a:tc vMerge="1">
                  <a:txBody>
                    <a:bodyPr/>
                    <a:lstStyle/>
                    <a:p>
                      <a:pPr algn="l"/>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b="1" dirty="0">
                          <a:solidFill>
                            <a:schemeClr val="tx1"/>
                          </a:solidFill>
                        </a:rPr>
                        <a:t>Dr. S. Visakan IAS</a:t>
                      </a:r>
                    </a:p>
                    <a:p>
                      <a:pPr algn="l"/>
                      <a:r>
                        <a:rPr lang="en-US" sz="700" b="1" dirty="0">
                          <a:solidFill>
                            <a:schemeClr val="tx1"/>
                          </a:solidFill>
                        </a:rPr>
                        <a:t>Commissioner of Technical Education</a:t>
                      </a:r>
                    </a:p>
                    <a:p>
                      <a:pPr algn="l"/>
                      <a:r>
                        <a:rPr lang="en-US" sz="700" b="1" dirty="0">
                          <a:solidFill>
                            <a:schemeClr val="tx1"/>
                          </a:solidFill>
                        </a:rPr>
                        <a:t>Directorate of Technical Education</a:t>
                      </a:r>
                    </a:p>
                    <a:p>
                      <a:pPr algn="l"/>
                      <a:r>
                        <a:rPr lang="en-US" sz="700" b="1" dirty="0">
                          <a:solidFill>
                            <a:schemeClr val="tx1"/>
                          </a:solidFill>
                        </a:rPr>
                        <a:t>Government of Tamil Nadu</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4026965"/>
                  </a:ext>
                </a:extLst>
              </a:tr>
              <a:tr h="13425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b="1" dirty="0">
                          <a:solidFill>
                            <a:schemeClr val="tx1"/>
                          </a:solidFill>
                        </a:rPr>
                        <a:t>Dr. B. T. N. Sridhar</a:t>
                      </a:r>
                    </a:p>
                    <a:p>
                      <a:pPr algn="l"/>
                      <a:r>
                        <a:rPr lang="en-US" sz="700" b="1" dirty="0">
                          <a:solidFill>
                            <a:schemeClr val="tx1"/>
                          </a:solidFill>
                        </a:rPr>
                        <a:t>Professor</a:t>
                      </a:r>
                    </a:p>
                    <a:p>
                      <a:pPr algn="l"/>
                      <a:r>
                        <a:rPr lang="en-US" sz="700" b="1" dirty="0">
                          <a:solidFill>
                            <a:schemeClr val="tx1"/>
                          </a:solidFill>
                        </a:rPr>
                        <a:t>Department of Aerospace Engineering</a:t>
                      </a:r>
                    </a:p>
                    <a:p>
                      <a:pPr algn="l"/>
                      <a:r>
                        <a:rPr lang="en-US" sz="700" b="1" dirty="0">
                          <a:solidFill>
                            <a:schemeClr val="tx1"/>
                          </a:solidFill>
                        </a:rPr>
                        <a:t>MIT Campus, Anna University, Chennai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8785470"/>
                  </a:ext>
                </a:extLst>
              </a:tr>
              <a:tr h="180000">
                <a:tc>
                  <a:txBody>
                    <a:bodyPr/>
                    <a:lstStyle/>
                    <a:p>
                      <a:pPr algn="l"/>
                      <a:r>
                        <a:rPr lang="en-IN" sz="700" b="1" dirty="0">
                          <a:solidFill>
                            <a:schemeClr val="tx1"/>
                          </a:solidFill>
                        </a:rPr>
                        <a:t>Patrons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IN" sz="700" b="1" dirty="0">
                          <a:solidFill>
                            <a:schemeClr val="tx1"/>
                          </a:solidFill>
                        </a:rPr>
                        <a:t>Dr. V. Kumaresan</a:t>
                      </a:r>
                    </a:p>
                    <a:p>
                      <a:pPr algn="l"/>
                      <a:r>
                        <a:rPr lang="en-IN" sz="700" b="1" dirty="0">
                          <a:solidFill>
                            <a:schemeClr val="tx1"/>
                          </a:solidFill>
                        </a:rPr>
                        <a:t>Registrar</a:t>
                      </a:r>
                    </a:p>
                    <a:p>
                      <a:pPr algn="l"/>
                      <a:r>
                        <a:rPr lang="en-IN" sz="700" b="1" dirty="0">
                          <a:solidFill>
                            <a:schemeClr val="tx1"/>
                          </a:solidFill>
                        </a:rPr>
                        <a:t>Anna University, Chennai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84368522"/>
                  </a:ext>
                </a:extLst>
              </a:tr>
              <a:tr h="180000">
                <a:tc>
                  <a:txBody>
                    <a:bodyPr/>
                    <a:lstStyle/>
                    <a:p>
                      <a:pPr algn="l"/>
                      <a:r>
                        <a:rPr lang="en-IN" sz="700" b="1" dirty="0">
                          <a:solidFill>
                            <a:schemeClr val="tx1"/>
                          </a:solidFill>
                        </a:rPr>
                        <a:t>Co-Patron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b="1" dirty="0">
                          <a:solidFill>
                            <a:schemeClr val="tx1"/>
                          </a:solidFill>
                        </a:rPr>
                        <a:t>Dr. P. Jayashree</a:t>
                      </a:r>
                    </a:p>
                    <a:p>
                      <a:pPr algn="l"/>
                      <a:r>
                        <a:rPr lang="en-US" sz="700" b="1" dirty="0">
                          <a:solidFill>
                            <a:schemeClr val="tx1"/>
                          </a:solidFill>
                        </a:rPr>
                        <a:t>Dean, MIT Campus</a:t>
                      </a:r>
                    </a:p>
                    <a:p>
                      <a:pPr algn="l"/>
                      <a:r>
                        <a:rPr lang="en-US" sz="700" b="1" dirty="0">
                          <a:solidFill>
                            <a:schemeClr val="tx1"/>
                          </a:solidFill>
                        </a:rPr>
                        <a:t>Anna University, Chennai</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05522001"/>
                  </a:ext>
                </a:extLst>
              </a:tr>
              <a:tr h="180000">
                <a:tc>
                  <a:txBody>
                    <a:bodyPr/>
                    <a:lstStyle/>
                    <a:p>
                      <a:pPr algn="l"/>
                      <a:r>
                        <a:rPr lang="en-IN" sz="700" b="1" i="0" kern="1200" dirty="0">
                          <a:solidFill>
                            <a:schemeClr val="tx1"/>
                          </a:solidFill>
                          <a:effectLst/>
                          <a:latin typeface="+mn-lt"/>
                          <a:ea typeface="+mn-ea"/>
                          <a:cs typeface="+mn-cs"/>
                        </a:rPr>
                        <a:t>Convenor :</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1" dirty="0">
                          <a:solidFill>
                            <a:schemeClr val="tx1"/>
                          </a:solidFill>
                        </a:rPr>
                        <a:t>Dr. J. </a:t>
                      </a:r>
                      <a:r>
                        <a:rPr lang="en-US" sz="700" b="1" dirty="0" err="1">
                          <a:solidFill>
                            <a:schemeClr val="tx1"/>
                          </a:solidFill>
                        </a:rPr>
                        <a:t>Jancirani</a:t>
                      </a:r>
                      <a:r>
                        <a:rPr lang="en-US" sz="700" b="1" dirty="0">
                          <a:solidFill>
                            <a:schemeClr val="tx1"/>
                          </a:solidFill>
                        </a:rPr>
                        <a:t>, Professor &amp; Head</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54437583"/>
                  </a:ext>
                </a:extLst>
              </a:tr>
              <a:tr h="304773">
                <a:tc>
                  <a:txBody>
                    <a:bodyPr/>
                    <a:lstStyle/>
                    <a:p>
                      <a:pPr algn="l"/>
                      <a:r>
                        <a:rPr lang="en-IN" sz="700" b="1" i="0" kern="1200" dirty="0">
                          <a:solidFill>
                            <a:schemeClr val="tx1"/>
                          </a:solidFill>
                          <a:effectLst/>
                          <a:latin typeface="+mn-lt"/>
                          <a:ea typeface="+mn-ea"/>
                          <a:cs typeface="+mn-cs"/>
                        </a:rPr>
                        <a:t>Organizing Secretaries :</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700" b="1" dirty="0">
                          <a:solidFill>
                            <a:schemeClr val="tx1"/>
                          </a:solidFill>
                        </a:rPr>
                        <a:t>Dr. C. Nandakumar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b="1" dirty="0">
                          <a:solidFill>
                            <a:schemeClr val="tx1"/>
                          </a:solidFill>
                        </a:rPr>
                        <a:t>Dr. P. Ganesh</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70986925"/>
                  </a:ext>
                </a:extLst>
              </a:tr>
              <a:tr h="18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1" i="0" kern="1200" dirty="0">
                          <a:solidFill>
                            <a:schemeClr val="tx1"/>
                          </a:solidFill>
                          <a:effectLst/>
                          <a:latin typeface="+mn-lt"/>
                          <a:ea typeface="+mn-ea"/>
                          <a:cs typeface="+mn-cs"/>
                        </a:rPr>
                        <a:t>Joint Organizing Secretaries :</a:t>
                      </a:r>
                      <a:endParaRPr lang="en-IN" sz="7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IN" sz="700" b="1" dirty="0">
                          <a:solidFill>
                            <a:schemeClr val="tx1"/>
                          </a:solidFill>
                        </a:rPr>
                        <a:t>Dr. V. </a:t>
                      </a:r>
                      <a:r>
                        <a:rPr lang="en-IN" sz="700" b="1" dirty="0" err="1">
                          <a:solidFill>
                            <a:schemeClr val="tx1"/>
                          </a:solidFill>
                        </a:rPr>
                        <a:t>Mugendiran</a:t>
                      </a:r>
                      <a:endParaRPr lang="en-IN" sz="700" b="1" dirty="0">
                        <a:solidFill>
                          <a:schemeClr val="tx1"/>
                        </a:solidFill>
                      </a:endParaRPr>
                    </a:p>
                    <a:p>
                      <a:pPr algn="l"/>
                      <a:r>
                        <a:rPr lang="en-IN" sz="700" b="1" dirty="0">
                          <a:solidFill>
                            <a:schemeClr val="tx1"/>
                          </a:solidFill>
                        </a:rPr>
                        <a:t>Dr. G. Kumaresan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700" b="1" dirty="0">
                          <a:solidFill>
                            <a:schemeClr val="tx1"/>
                          </a:solidFill>
                        </a:rPr>
                        <a:t>Dr. E. Pavithra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700" b="1" dirty="0">
                          <a:solidFill>
                            <a:schemeClr val="tx1"/>
                          </a:solidFill>
                        </a:rPr>
                        <a:t>Dr. C. Arun Prakash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4711234"/>
                  </a:ext>
                </a:extLst>
              </a:tr>
            </a:tbl>
          </a:graphicData>
        </a:graphic>
      </p:graphicFrame>
      <p:graphicFrame>
        <p:nvGraphicFramePr>
          <p:cNvPr id="7" name="Table 6">
            <a:extLst>
              <a:ext uri="{FF2B5EF4-FFF2-40B4-BE49-F238E27FC236}">
                <a16:creationId xmlns:a16="http://schemas.microsoft.com/office/drawing/2014/main" id="{BB5091C4-BCAD-0121-0669-DBE148E87846}"/>
              </a:ext>
            </a:extLst>
          </p:cNvPr>
          <p:cNvGraphicFramePr>
            <a:graphicFrameLocks noGrp="1"/>
          </p:cNvGraphicFramePr>
          <p:nvPr>
            <p:extLst>
              <p:ext uri="{D42A27DB-BD31-4B8C-83A1-F6EECF244321}">
                <p14:modId xmlns:p14="http://schemas.microsoft.com/office/powerpoint/2010/main" val="2751029873"/>
              </p:ext>
            </p:extLst>
          </p:nvPr>
        </p:nvGraphicFramePr>
        <p:xfrm>
          <a:off x="4283464" y="3764849"/>
          <a:ext cx="3708399" cy="2598918"/>
        </p:xfrm>
        <a:graphic>
          <a:graphicData uri="http://schemas.openxmlformats.org/drawingml/2006/table">
            <a:tbl>
              <a:tblPr bandRow="1">
                <a:tableStyleId>{5C22544A-7EE6-4342-B048-85BDC9FD1C3A}</a:tableStyleId>
              </a:tblPr>
              <a:tblGrid>
                <a:gridCol w="1251704">
                  <a:extLst>
                    <a:ext uri="{9D8B030D-6E8A-4147-A177-3AD203B41FA5}">
                      <a16:colId xmlns:a16="http://schemas.microsoft.com/office/drawing/2014/main" val="441166393"/>
                    </a:ext>
                  </a:extLst>
                </a:gridCol>
                <a:gridCol w="1196073">
                  <a:extLst>
                    <a:ext uri="{9D8B030D-6E8A-4147-A177-3AD203B41FA5}">
                      <a16:colId xmlns:a16="http://schemas.microsoft.com/office/drawing/2014/main" val="1217395386"/>
                    </a:ext>
                  </a:extLst>
                </a:gridCol>
                <a:gridCol w="1260622">
                  <a:extLst>
                    <a:ext uri="{9D8B030D-6E8A-4147-A177-3AD203B41FA5}">
                      <a16:colId xmlns:a16="http://schemas.microsoft.com/office/drawing/2014/main" val="1822676296"/>
                    </a:ext>
                  </a:extLst>
                </a:gridCol>
              </a:tblGrid>
              <a:tr h="179832">
                <a:tc gridSpan="3">
                  <a:txBody>
                    <a:bodyPr/>
                    <a:lstStyle/>
                    <a:p>
                      <a:pPr algn="ctr"/>
                      <a:r>
                        <a:rPr lang="en-US" sz="600" b="1" i="0" kern="1200" dirty="0">
                          <a:solidFill>
                            <a:schemeClr val="tx1"/>
                          </a:solidFill>
                          <a:effectLst/>
                          <a:latin typeface="+mn-lt"/>
                          <a:ea typeface="+mn-ea"/>
                          <a:cs typeface="+mn-cs"/>
                        </a:rPr>
                        <a:t>REGISTRATION FEE (INCLUSIVE of GST@18%)</a:t>
                      </a:r>
                      <a:endParaRPr lang="en-IN" sz="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lnL w="12700" cap="flat" cmpd="sng" algn="ctr">
                      <a:solidFill>
                        <a:schemeClr val="tx1"/>
                      </a:solidFill>
                      <a:prstDash val="solid"/>
                      <a:round/>
                      <a:headEnd type="none" w="med" len="med"/>
                      <a:tailEnd type="none" w="med" len="med"/>
                    </a:lnL>
                  </a:tcPr>
                </a:tc>
                <a:tc hMerge="1">
                  <a:txBody>
                    <a:bodyPr/>
                    <a:lstStyle/>
                    <a:p>
                      <a:pPr algn="ctr"/>
                      <a:endParaRPr lang="en-IN" sz="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43000230"/>
                  </a:ext>
                </a:extLst>
              </a:tr>
              <a:tr h="155562">
                <a:tc gridSpan="3">
                  <a:txBody>
                    <a:bodyPr/>
                    <a:lstStyle/>
                    <a:p>
                      <a:pPr indent="0" algn="ctr">
                        <a:lnSpc>
                          <a:spcPts val="1000"/>
                        </a:lnSpc>
                      </a:pPr>
                      <a:r>
                        <a:rPr lang="en-US" sz="600" b="1" dirty="0">
                          <a:solidFill>
                            <a:schemeClr val="tx1"/>
                          </a:solidFill>
                          <a:latin typeface="Arial"/>
                        </a:rPr>
                        <a:t>National Delegate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lnL w="12700" cap="flat" cmpd="sng" algn="ctr">
                      <a:solidFill>
                        <a:schemeClr val="tx1"/>
                      </a:solidFill>
                      <a:prstDash val="solid"/>
                      <a:round/>
                      <a:headEnd type="none" w="med" len="med"/>
                      <a:tailEnd type="none" w="med" len="med"/>
                    </a:lnL>
                  </a:tcPr>
                </a:tc>
                <a:tc hMerge="1">
                  <a:txBody>
                    <a:bodyPr/>
                    <a:lstStyle/>
                    <a:p>
                      <a:pPr algn="l"/>
                      <a:endParaRPr lang="en-IN" sz="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64920614"/>
                  </a:ext>
                </a:extLst>
              </a:tr>
              <a:tr h="155562">
                <a:tc>
                  <a:txBody>
                    <a:bodyPr/>
                    <a:lstStyle/>
                    <a:p>
                      <a:pPr indent="0">
                        <a:lnSpc>
                          <a:spcPts val="1000"/>
                        </a:lnSpc>
                      </a:pPr>
                      <a:r>
                        <a:rPr lang="en-US" sz="600" b="1" dirty="0">
                          <a:solidFill>
                            <a:schemeClr val="tx1"/>
                          </a:solidFill>
                          <a:latin typeface="Arial"/>
                        </a:rPr>
                        <a:t>  Category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1" dirty="0">
                          <a:solidFill>
                            <a:schemeClr val="tx1"/>
                          </a:solidFill>
                        </a:rPr>
                        <a:t>Early Bird Registration</a:t>
                      </a:r>
                    </a:p>
                    <a:p>
                      <a:pPr algn="ctr"/>
                      <a:r>
                        <a:rPr lang="en-US" sz="600" b="1" dirty="0">
                          <a:solidFill>
                            <a:schemeClr val="tx1"/>
                          </a:solidFill>
                        </a:rPr>
                        <a:t>(up to 15 Oct 2026)</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1" dirty="0">
                          <a:solidFill>
                            <a:schemeClr val="tx1"/>
                          </a:solidFill>
                        </a:rPr>
                        <a:t>From 16 Oct to 15 Dec 2026</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725487"/>
                  </a:ext>
                </a:extLst>
              </a:tr>
              <a:tr h="155562">
                <a:tc>
                  <a:txBody>
                    <a:bodyPr/>
                    <a:lstStyle/>
                    <a:p>
                      <a:pPr indent="0">
                        <a:lnSpc>
                          <a:spcPts val="950"/>
                        </a:lnSpc>
                      </a:pPr>
                      <a:r>
                        <a:rPr lang="en-US" sz="600" dirty="0">
                          <a:solidFill>
                            <a:schemeClr val="tx1"/>
                          </a:solidFill>
                          <a:latin typeface="+mn-lt"/>
                        </a:rPr>
                        <a:t> PG/UG Student</a:t>
                      </a:r>
                      <a:endParaRPr lang="en-US" sz="600" dirty="0">
                        <a:solidFill>
                          <a:schemeClr val="tx1"/>
                        </a:solidFill>
                        <a:latin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 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 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4026965"/>
                  </a:ext>
                </a:extLst>
              </a:tr>
              <a:tr h="155562">
                <a:tc>
                  <a:txBody>
                    <a:bodyPr/>
                    <a:lstStyle/>
                    <a:p>
                      <a:pPr indent="0">
                        <a:lnSpc>
                          <a:spcPts val="950"/>
                        </a:lnSpc>
                      </a:pPr>
                      <a:r>
                        <a:rPr lang="en-US" sz="600" dirty="0">
                          <a:solidFill>
                            <a:schemeClr val="tx1"/>
                          </a:solidFill>
                          <a:latin typeface="Arial"/>
                        </a:rPr>
                        <a:t> </a:t>
                      </a:r>
                      <a:r>
                        <a:rPr lang="en-US" sz="600" dirty="0">
                          <a:solidFill>
                            <a:schemeClr val="tx1"/>
                          </a:solidFill>
                          <a:latin typeface="+mn-lt"/>
                        </a:rPr>
                        <a:t>Full Time/Part Time Research Scholars </a:t>
                      </a:r>
                      <a:endParaRPr lang="en-US" sz="600" dirty="0">
                        <a:solidFill>
                          <a:schemeClr val="tx1"/>
                        </a:solidFill>
                        <a:latin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 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664094"/>
                  </a:ext>
                </a:extLst>
              </a:tr>
              <a:tr h="155562">
                <a:tc>
                  <a:txBody>
                    <a:bodyPr/>
                    <a:lstStyle/>
                    <a:p>
                      <a:pPr marL="0" marR="0" lvl="0" indent="0" algn="l" defTabSz="914400" rtl="0" eaLnBrk="1" fontAlgn="auto" latinLnBrk="0" hangingPunct="1">
                        <a:lnSpc>
                          <a:spcPts val="950"/>
                        </a:lnSpc>
                        <a:spcBef>
                          <a:spcPts val="0"/>
                        </a:spcBef>
                        <a:spcAft>
                          <a:spcPts val="0"/>
                        </a:spcAft>
                        <a:buClrTx/>
                        <a:buSzTx/>
                        <a:buFontTx/>
                        <a:buNone/>
                        <a:tabLst/>
                        <a:defRPr/>
                      </a:pPr>
                      <a:r>
                        <a:rPr lang="en-US" sz="600" dirty="0">
                          <a:solidFill>
                            <a:schemeClr val="tx1"/>
                          </a:solidFill>
                          <a:latin typeface="Arial"/>
                        </a:rPr>
                        <a:t> </a:t>
                      </a:r>
                      <a:r>
                        <a:rPr lang="en-US" sz="600" dirty="0">
                          <a:solidFill>
                            <a:schemeClr val="tx1"/>
                          </a:solidFill>
                          <a:latin typeface="+mn-lt"/>
                        </a:rPr>
                        <a:t>Industry / Government / Academic / Research Institutions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600" b="1" dirty="0">
                          <a:solidFill>
                            <a:schemeClr val="tx1"/>
                          </a:solidFill>
                        </a:rPr>
                        <a:t>₹ 2,625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600" b="1" dirty="0">
                          <a:solidFill>
                            <a:schemeClr val="tx1"/>
                          </a:solidFill>
                        </a:rPr>
                        <a:t>₹ 3,500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785470"/>
                  </a:ext>
                </a:extLst>
              </a:tr>
              <a:tr h="155562">
                <a:tc>
                  <a:txBody>
                    <a:bodyPr/>
                    <a:lstStyle/>
                    <a:p>
                      <a:pPr indent="0">
                        <a:lnSpc>
                          <a:spcPts val="960"/>
                        </a:lnSpc>
                      </a:pPr>
                      <a:r>
                        <a:rPr lang="en-US" sz="600" dirty="0">
                          <a:solidFill>
                            <a:schemeClr val="tx1"/>
                          </a:solidFill>
                          <a:latin typeface="Arial"/>
                        </a:rPr>
                        <a:t> Accompanying per</a:t>
                      </a:r>
                      <a:br>
                        <a:rPr sz="600" dirty="0">
                          <a:solidFill>
                            <a:schemeClr val="tx1"/>
                          </a:solidFill>
                        </a:rPr>
                      </a:br>
                      <a:r>
                        <a:rPr lang="en-US" sz="600" dirty="0">
                          <a:solidFill>
                            <a:schemeClr val="tx1"/>
                          </a:solidFill>
                        </a:rPr>
                        <a:t> </a:t>
                      </a:r>
                      <a:r>
                        <a:rPr lang="en-US" sz="600" dirty="0">
                          <a:solidFill>
                            <a:schemeClr val="tx1"/>
                          </a:solidFill>
                          <a:latin typeface="Arial"/>
                        </a:rPr>
                        <a:t>Person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600" b="1" dirty="0">
                          <a:solidFill>
                            <a:schemeClr val="tx1"/>
                          </a:solidFill>
                        </a:rPr>
                        <a:t>₹ 1,500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600" b="1" dirty="0">
                          <a:solidFill>
                            <a:schemeClr val="tx1"/>
                          </a:solidFill>
                        </a:rPr>
                        <a:t>₹ 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3755055"/>
                  </a:ext>
                </a:extLst>
              </a:tr>
              <a:tr h="155562">
                <a:tc gridSpan="3">
                  <a:txBody>
                    <a:bodyPr/>
                    <a:lstStyle/>
                    <a:p>
                      <a:pPr algn="ctr"/>
                      <a:r>
                        <a:rPr lang="en-IN" sz="600" b="1" dirty="0">
                          <a:solidFill>
                            <a:schemeClr val="tx1"/>
                          </a:solidFill>
                        </a:rPr>
                        <a:t>International Delegates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l"/>
                      <a:endParaRPr lang="en-IN" sz="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54437583"/>
                  </a:ext>
                </a:extLst>
              </a:tr>
              <a:tr h="155562">
                <a:tc>
                  <a:txBody>
                    <a:bodyPr/>
                    <a:lstStyle/>
                    <a:p>
                      <a:pPr indent="0">
                        <a:lnSpc>
                          <a:spcPts val="950"/>
                        </a:lnSpc>
                      </a:pPr>
                      <a:r>
                        <a:rPr lang="en-US" sz="600" dirty="0">
                          <a:solidFill>
                            <a:schemeClr val="tx1"/>
                          </a:solidFill>
                          <a:latin typeface="+mn-lt"/>
                        </a:rPr>
                        <a:t> PG/UG Student</a:t>
                      </a:r>
                      <a:endParaRPr lang="en-US" sz="600" dirty="0">
                        <a:solidFill>
                          <a:schemeClr val="tx1"/>
                        </a:solidFill>
                        <a:latin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600" b="1" dirty="0">
                          <a:solidFill>
                            <a:schemeClr val="tx1"/>
                          </a:solidFill>
                        </a:rPr>
                        <a:t>USD 70</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USD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0505690"/>
                  </a:ext>
                </a:extLst>
              </a:tr>
              <a:tr h="155562">
                <a:tc>
                  <a:txBody>
                    <a:bodyPr/>
                    <a:lstStyle/>
                    <a:p>
                      <a:pPr indent="0">
                        <a:lnSpc>
                          <a:spcPts val="950"/>
                        </a:lnSpc>
                      </a:pPr>
                      <a:r>
                        <a:rPr lang="en-US" sz="600" dirty="0">
                          <a:solidFill>
                            <a:schemeClr val="tx1"/>
                          </a:solidFill>
                          <a:latin typeface="Arial"/>
                        </a:rPr>
                        <a:t> </a:t>
                      </a:r>
                      <a:r>
                        <a:rPr lang="en-US" sz="600" dirty="0">
                          <a:solidFill>
                            <a:schemeClr val="tx1"/>
                          </a:solidFill>
                          <a:latin typeface="+mn-lt"/>
                        </a:rPr>
                        <a:t>Full Time/Part Time Research Scholars </a:t>
                      </a:r>
                      <a:endParaRPr lang="en-US" sz="600" dirty="0">
                        <a:solidFill>
                          <a:schemeClr val="tx1"/>
                        </a:solidFill>
                        <a:latin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600" b="1" dirty="0">
                          <a:solidFill>
                            <a:schemeClr val="tx1"/>
                          </a:solidFill>
                        </a:rPr>
                        <a:t>USD 105</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USD 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0986925"/>
                  </a:ext>
                </a:extLst>
              </a:tr>
              <a:tr h="155562">
                <a:tc>
                  <a:txBody>
                    <a:bodyPr/>
                    <a:lstStyle/>
                    <a:p>
                      <a:pPr marL="0" marR="0" lvl="0" indent="0" algn="l" defTabSz="914400" rtl="0" eaLnBrk="1" fontAlgn="auto" latinLnBrk="0" hangingPunct="1">
                        <a:lnSpc>
                          <a:spcPts val="950"/>
                        </a:lnSpc>
                        <a:spcBef>
                          <a:spcPts val="0"/>
                        </a:spcBef>
                        <a:spcAft>
                          <a:spcPts val="0"/>
                        </a:spcAft>
                        <a:buClrTx/>
                        <a:buSzTx/>
                        <a:buFontTx/>
                        <a:buNone/>
                        <a:tabLst/>
                        <a:defRPr/>
                      </a:pPr>
                      <a:r>
                        <a:rPr lang="en-US" sz="600" dirty="0">
                          <a:solidFill>
                            <a:schemeClr val="tx1"/>
                          </a:solidFill>
                          <a:latin typeface="Arial"/>
                        </a:rPr>
                        <a:t> </a:t>
                      </a:r>
                      <a:r>
                        <a:rPr lang="en-US" sz="600" dirty="0">
                          <a:solidFill>
                            <a:schemeClr val="tx1"/>
                          </a:solidFill>
                          <a:latin typeface="+mn-lt"/>
                        </a:rPr>
                        <a:t>Industry / Government / Academic / Research Institutions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600" b="1" dirty="0">
                          <a:solidFill>
                            <a:schemeClr val="tx1"/>
                          </a:solidFill>
                        </a:rPr>
                        <a:t>USD 263</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USD 350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3633810"/>
                  </a:ext>
                </a:extLst>
              </a:tr>
              <a:tr h="155562">
                <a:tc>
                  <a:txBody>
                    <a:bodyPr/>
                    <a:lstStyle/>
                    <a:p>
                      <a:pPr indent="0">
                        <a:lnSpc>
                          <a:spcPts val="960"/>
                        </a:lnSpc>
                      </a:pPr>
                      <a:r>
                        <a:rPr lang="en-US" sz="600" dirty="0">
                          <a:solidFill>
                            <a:schemeClr val="tx1"/>
                          </a:solidFill>
                          <a:latin typeface="Arial"/>
                        </a:rPr>
                        <a:t> Accompanying per</a:t>
                      </a:r>
                      <a:br>
                        <a:rPr sz="600" dirty="0">
                          <a:solidFill>
                            <a:schemeClr val="tx1"/>
                          </a:solidFill>
                        </a:rPr>
                      </a:br>
                      <a:r>
                        <a:rPr lang="en-US" sz="600" dirty="0">
                          <a:solidFill>
                            <a:schemeClr val="tx1"/>
                          </a:solidFill>
                        </a:rPr>
                        <a:t> </a:t>
                      </a:r>
                      <a:r>
                        <a:rPr lang="en-US" sz="600" dirty="0">
                          <a:solidFill>
                            <a:schemeClr val="tx1"/>
                          </a:solidFill>
                          <a:latin typeface="Arial"/>
                        </a:rPr>
                        <a:t>Person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600" b="1" dirty="0">
                          <a:solidFill>
                            <a:schemeClr val="tx1"/>
                          </a:solidFill>
                        </a:rPr>
                        <a:t>USD 150</a:t>
                      </a:r>
                      <a:endParaRPr lang="en-IN" sz="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600" b="1" dirty="0">
                          <a:solidFill>
                            <a:schemeClr val="tx1"/>
                          </a:solidFill>
                        </a:rPr>
                        <a:t>USD 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4711234"/>
                  </a:ext>
                </a:extLst>
              </a:tr>
            </a:tbl>
          </a:graphicData>
        </a:graphic>
      </p:graphicFrame>
      <p:graphicFrame>
        <p:nvGraphicFramePr>
          <p:cNvPr id="16" name="Table 15">
            <a:extLst>
              <a:ext uri="{FF2B5EF4-FFF2-40B4-BE49-F238E27FC236}">
                <a16:creationId xmlns:a16="http://schemas.microsoft.com/office/drawing/2014/main" id="{4B14F45E-DC60-640C-D1D6-245AE22E9A4A}"/>
              </a:ext>
            </a:extLst>
          </p:cNvPr>
          <p:cNvGraphicFramePr>
            <a:graphicFrameLocks noGrp="1"/>
          </p:cNvGraphicFramePr>
          <p:nvPr>
            <p:extLst>
              <p:ext uri="{D42A27DB-BD31-4B8C-83A1-F6EECF244321}">
                <p14:modId xmlns:p14="http://schemas.microsoft.com/office/powerpoint/2010/main" val="1262106369"/>
              </p:ext>
            </p:extLst>
          </p:nvPr>
        </p:nvGraphicFramePr>
        <p:xfrm>
          <a:off x="4283464" y="6336396"/>
          <a:ext cx="3708399" cy="548640"/>
        </p:xfrm>
        <a:graphic>
          <a:graphicData uri="http://schemas.openxmlformats.org/drawingml/2006/table">
            <a:tbl>
              <a:tblPr firstRow="1" bandRow="1">
                <a:tableStyleId>{5C22544A-7EE6-4342-B048-85BDC9FD1C3A}</a:tableStyleId>
              </a:tblPr>
              <a:tblGrid>
                <a:gridCol w="3708399">
                  <a:extLst>
                    <a:ext uri="{9D8B030D-6E8A-4147-A177-3AD203B41FA5}">
                      <a16:colId xmlns:a16="http://schemas.microsoft.com/office/drawing/2014/main" val="2187714821"/>
                    </a:ext>
                  </a:extLst>
                </a:gridCol>
              </a:tblGrid>
              <a:tr h="370840">
                <a:tc>
                  <a:txBody>
                    <a:bodyPr/>
                    <a:lstStyle/>
                    <a:p>
                      <a:pPr algn="ctr"/>
                      <a:r>
                        <a:rPr lang="en-US" sz="600" b="1" dirty="0">
                          <a:solidFill>
                            <a:schemeClr val="tx1"/>
                          </a:solidFill>
                        </a:rPr>
                        <a:t>CONTACT DETAILS</a:t>
                      </a:r>
                    </a:p>
                    <a:p>
                      <a:pPr algn="just"/>
                      <a:r>
                        <a:rPr lang="en-IN" sz="600" b="1" dirty="0">
                          <a:solidFill>
                            <a:schemeClr val="tx1"/>
                          </a:solidFill>
                        </a:rPr>
                        <a:t>RIPE 2027 </a:t>
                      </a:r>
                      <a:r>
                        <a:rPr lang="en-IN" sz="600" b="1" i="0" kern="1200" dirty="0">
                          <a:solidFill>
                            <a:schemeClr val="tx1"/>
                          </a:solidFill>
                          <a:effectLst/>
                          <a:latin typeface="+mn-lt"/>
                          <a:ea typeface="+mn-ea"/>
                          <a:cs typeface="+mn-cs"/>
                        </a:rPr>
                        <a:t>Secretary, </a:t>
                      </a:r>
                      <a:r>
                        <a:rPr lang="en-US" sz="600" b="1" dirty="0">
                          <a:solidFill>
                            <a:schemeClr val="tx1"/>
                          </a:solidFill>
                        </a:rPr>
                        <a:t>Department of Production Technology, Madras Institute of Technology Campus, Anna University, Chennai, Tamil Nadu, India. </a:t>
                      </a:r>
                    </a:p>
                    <a:p>
                      <a:pPr algn="just"/>
                      <a:r>
                        <a:rPr lang="en-US" sz="600" b="1" dirty="0">
                          <a:solidFill>
                            <a:schemeClr val="tx1"/>
                          </a:solidFill>
                        </a:rPr>
                        <a:t>Email: </a:t>
                      </a:r>
                      <a:r>
                        <a:rPr lang="en-US" sz="600" b="1" dirty="0">
                          <a:solidFill>
                            <a:schemeClr val="tx1"/>
                          </a:solidFill>
                          <a:hlinkClick r:id="rId4"/>
                        </a:rPr>
                        <a:t>ripe2027@mitindia.edu</a:t>
                      </a:r>
                      <a:endParaRPr lang="en-US" sz="600" b="1" dirty="0">
                        <a:solidFill>
                          <a:schemeClr val="tx1"/>
                        </a:solidFill>
                      </a:endParaRPr>
                    </a:p>
                    <a:p>
                      <a:pPr algn="just"/>
                      <a:r>
                        <a:rPr lang="en-US" sz="600" b="1" dirty="0">
                          <a:solidFill>
                            <a:schemeClr val="tx1"/>
                          </a:solidFill>
                        </a:rPr>
                        <a:t>Phone: +91 98427 35311 , +91 94444 30644</a:t>
                      </a:r>
                      <a:endParaRPr lang="en-IN" sz="6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540453"/>
                  </a:ext>
                </a:extLst>
              </a:tr>
            </a:tbl>
          </a:graphicData>
        </a:graphic>
      </p:graphicFrame>
      <p:sp>
        <p:nvSpPr>
          <p:cNvPr id="2" name="TextBox 1">
            <a:extLst>
              <a:ext uri="{FF2B5EF4-FFF2-40B4-BE49-F238E27FC236}">
                <a16:creationId xmlns:a16="http://schemas.microsoft.com/office/drawing/2014/main" id="{BD17C4DB-4818-C454-8B6D-03AD77AA92CA}"/>
              </a:ext>
            </a:extLst>
          </p:cNvPr>
          <p:cNvSpPr txBox="1"/>
          <p:nvPr/>
        </p:nvSpPr>
        <p:spPr>
          <a:xfrm>
            <a:off x="8458329" y="2671940"/>
            <a:ext cx="3391382" cy="1769715"/>
          </a:xfrm>
          <a:prstGeom prst="rect">
            <a:avLst/>
          </a:prstGeom>
          <a:noFill/>
        </p:spPr>
        <p:txBody>
          <a:bodyPr wrap="square" rtlCol="0">
            <a:spAutoFit/>
          </a:bodyPr>
          <a:lstStyle/>
          <a:p>
            <a:pPr algn="ctr">
              <a:spcAft>
                <a:spcPts val="600"/>
              </a:spcAft>
            </a:pPr>
            <a:r>
              <a:rPr lang="en-IN" sz="1100" b="1" i="1" dirty="0">
                <a:solidFill>
                  <a:schemeClr val="accent5"/>
                </a:solidFill>
              </a:rPr>
              <a:t>Organizing Secretaries</a:t>
            </a:r>
          </a:p>
          <a:p>
            <a:pPr algn="ctr"/>
            <a:r>
              <a:rPr lang="en-IN" sz="1100" b="1" dirty="0">
                <a:solidFill>
                  <a:schemeClr val="accent5"/>
                </a:solidFill>
              </a:rPr>
              <a:t>Dr. C. Nandakumar, Associate Professor</a:t>
            </a:r>
          </a:p>
          <a:p>
            <a:pPr algn="ctr"/>
            <a:r>
              <a:rPr lang="en-IN" sz="1100" b="1" dirty="0">
                <a:solidFill>
                  <a:schemeClr val="accent5"/>
                </a:solidFill>
              </a:rPr>
              <a:t>Dr. P. Ganesh, Associate Professor</a:t>
            </a:r>
          </a:p>
          <a:p>
            <a:pPr algn="ctr"/>
            <a:endParaRPr lang="en-IN" sz="1100" b="1" dirty="0">
              <a:solidFill>
                <a:schemeClr val="accent5"/>
              </a:solidFill>
            </a:endParaRPr>
          </a:p>
          <a:p>
            <a:pPr algn="ctr">
              <a:spcAft>
                <a:spcPts val="600"/>
              </a:spcAft>
            </a:pPr>
            <a:r>
              <a:rPr lang="en-IN" sz="1100" b="1" i="1" dirty="0">
                <a:solidFill>
                  <a:schemeClr val="accent5"/>
                </a:solidFill>
              </a:rPr>
              <a:t>Joint Organizing Secretaries</a:t>
            </a:r>
            <a:r>
              <a:rPr lang="en-IN" sz="1100" b="1" dirty="0">
                <a:solidFill>
                  <a:schemeClr val="accent5"/>
                </a:solidFill>
              </a:rPr>
              <a:t> </a:t>
            </a:r>
          </a:p>
          <a:p>
            <a:pPr algn="ctr"/>
            <a:r>
              <a:rPr lang="de-DE" sz="1100" b="1" dirty="0">
                <a:solidFill>
                  <a:schemeClr val="accent5"/>
                </a:solidFill>
              </a:rPr>
              <a:t>Dr. V. Mugendiran, Assistant Professor (Sr. Gr)</a:t>
            </a:r>
            <a:endParaRPr lang="en-IN" sz="1100" b="1" dirty="0">
              <a:solidFill>
                <a:schemeClr val="accent5"/>
              </a:solidFill>
            </a:endParaRPr>
          </a:p>
          <a:p>
            <a:pPr algn="ctr"/>
            <a:r>
              <a:rPr lang="en-IN" sz="1100" b="1" dirty="0">
                <a:solidFill>
                  <a:schemeClr val="accent5"/>
                </a:solidFill>
              </a:rPr>
              <a:t>Dr. G. Kumaresan, Assistant Professor</a:t>
            </a:r>
          </a:p>
          <a:p>
            <a:pPr algn="ctr"/>
            <a:r>
              <a:rPr lang="en-IN" sz="1100" b="1" dirty="0">
                <a:solidFill>
                  <a:schemeClr val="accent5"/>
                </a:solidFill>
              </a:rPr>
              <a:t>Dr. E. Pavithra, Assistant Professor</a:t>
            </a:r>
          </a:p>
          <a:p>
            <a:pPr algn="ctr"/>
            <a:r>
              <a:rPr lang="en-IN" sz="1100" b="1" dirty="0">
                <a:solidFill>
                  <a:schemeClr val="accent5"/>
                </a:solidFill>
              </a:rPr>
              <a:t>Dr. C. Arun Prakash , Assistant Professor </a:t>
            </a:r>
          </a:p>
        </p:txBody>
      </p:sp>
      <p:sp>
        <p:nvSpPr>
          <p:cNvPr id="6" name="TextBox 5">
            <a:extLst>
              <a:ext uri="{FF2B5EF4-FFF2-40B4-BE49-F238E27FC236}">
                <a16:creationId xmlns:a16="http://schemas.microsoft.com/office/drawing/2014/main" id="{2C2C7DD6-8D6E-A4EE-18EC-CF0F567F1ACB}"/>
              </a:ext>
            </a:extLst>
          </p:cNvPr>
          <p:cNvSpPr txBox="1"/>
          <p:nvPr/>
        </p:nvSpPr>
        <p:spPr>
          <a:xfrm>
            <a:off x="262171" y="270916"/>
            <a:ext cx="3591971" cy="6401753"/>
          </a:xfrm>
          <a:prstGeom prst="rect">
            <a:avLst/>
          </a:prstGeom>
          <a:noFill/>
        </p:spPr>
        <p:txBody>
          <a:bodyPr wrap="square" rtlCol="0">
            <a:spAutoFit/>
          </a:bodyPr>
          <a:lstStyle/>
          <a:p>
            <a:pPr algn="ctr">
              <a:spcAft>
                <a:spcPts val="600"/>
              </a:spcAft>
            </a:pPr>
            <a:r>
              <a:rPr lang="en-IN" sz="1000" b="1" dirty="0"/>
              <a:t>About Anna University</a:t>
            </a:r>
          </a:p>
          <a:p>
            <a:pPr algn="just">
              <a:spcAft>
                <a:spcPts val="600"/>
              </a:spcAft>
            </a:pPr>
            <a:r>
              <a:rPr lang="en-US" sz="1000" dirty="0"/>
              <a:t>Anna University was established on 4th September, 1978 as a unitary type of University. This University was named after Late Dr. C. N. Annadurai, former Chief Minister of Tamil Nadu. It offers higher education in Engineering, Technology, Architecture and Applied Sciences relevant to the current and projected needs of the society. Besides promoting research and disseminating knowledge gained therefrom, it fosters cooperation between the academic and industrial communities. The University was formed by bringing together and integrating four well known technical institutions in the city of Madras (now Chennai) namely:</a:t>
            </a:r>
          </a:p>
          <a:p>
            <a:pPr marL="228600" indent="-228600" algn="just">
              <a:buFont typeface="+mj-lt"/>
              <a:buAutoNum type="arabicPeriod"/>
            </a:pPr>
            <a:r>
              <a:rPr lang="en-US" sz="1000" dirty="0"/>
              <a:t>College of Engineering (CEG) (1794)  </a:t>
            </a:r>
          </a:p>
          <a:p>
            <a:pPr marL="228600" indent="-228600">
              <a:buFont typeface="+mj-lt"/>
              <a:buAutoNum type="arabicPeriod"/>
            </a:pPr>
            <a:r>
              <a:rPr lang="en-US" sz="1000" dirty="0"/>
              <a:t>Alagappa College of Technology (ACT) (1944)</a:t>
            </a:r>
          </a:p>
          <a:p>
            <a:pPr marL="228600" indent="-228600">
              <a:buFont typeface="+mj-lt"/>
              <a:buAutoNum type="arabicPeriod"/>
            </a:pPr>
            <a:r>
              <a:rPr lang="en-US" sz="1000" dirty="0"/>
              <a:t>Madras Institute of Technology (MIT) (1949) </a:t>
            </a:r>
          </a:p>
          <a:p>
            <a:pPr marL="228600" indent="-228600">
              <a:buFont typeface="+mj-lt"/>
              <a:buAutoNum type="arabicPeriod"/>
            </a:pPr>
            <a:r>
              <a:rPr lang="en-US" sz="1000" dirty="0"/>
              <a:t>School of Architecture &amp; Planning (SAP) (1957)</a:t>
            </a:r>
          </a:p>
          <a:p>
            <a:endParaRPr lang="en-IN" sz="1000" dirty="0"/>
          </a:p>
          <a:p>
            <a:pPr algn="ctr"/>
            <a:r>
              <a:rPr lang="en-US" sz="1000" b="1" dirty="0">
                <a:ln w="3175">
                  <a:noFill/>
                </a:ln>
                <a:solidFill>
                  <a:srgbClr val="000000"/>
                </a:solidFill>
                <a:ea typeface="Times New Roman" panose="02020603050405020304" pitchFamily="18" charset="0"/>
                <a:cs typeface="Calibri Light" panose="020F0302020204030204" pitchFamily="34" charset="0"/>
              </a:rPr>
              <a:t>ABOUT MADRAS INSTITUTE OF TECHNOLOGY</a:t>
            </a:r>
          </a:p>
          <a:p>
            <a:pPr algn="ctr"/>
            <a:endParaRPr lang="en-US" sz="1000" dirty="0"/>
          </a:p>
          <a:p>
            <a:pPr algn="just"/>
            <a:r>
              <a:rPr lang="en-US" sz="1000" dirty="0"/>
              <a:t>In 1949, Shri. C. Rajam, gave the newly independent India-Madras Institute of Technology, so that MIT could establish the strong technical base it needed to take its place in the world. It was the rare genius and daring of its founder that made MIT offer courses like Aeronautical Engineering, Automobile Engineering, Electronics Engineering and Instrument Technology for the first time in our country. </a:t>
            </a:r>
          </a:p>
          <a:p>
            <a:pPr algn="just"/>
            <a:endParaRPr lang="en-US" sz="1000" dirty="0"/>
          </a:p>
          <a:p>
            <a:pPr algn="just"/>
            <a:r>
              <a:rPr lang="en-US" sz="1000" dirty="0"/>
              <a:t>Now it also provides technical education in other engineering fields such as Production Technology, Information Technology, Computer Technology and Rubber and Plastic Technology. It was merged with Anna University in the year 1978.  MIT has produced great scientist like </a:t>
            </a:r>
            <a:r>
              <a:rPr lang="en-US" sz="1000" dirty="0" err="1"/>
              <a:t>Dr.A.P.J.Abdul</a:t>
            </a:r>
            <a:r>
              <a:rPr lang="en-US" sz="1000" dirty="0"/>
              <a:t> Kalam, ISRO Chairman </a:t>
            </a:r>
            <a:r>
              <a:rPr lang="en-US" sz="1000" dirty="0" err="1"/>
              <a:t>K.Sivan</a:t>
            </a:r>
            <a:r>
              <a:rPr lang="en-US" sz="1000" dirty="0"/>
              <a:t>, versatile genius like Sujatha, Ramesh Praba and many more. The broad-based education, coupled with practice-oriented training in their specialty, has enabled the students of MIT to handle with skill and success a wide variety of technical problems. MIT has developed into an important </a:t>
            </a:r>
            <a:r>
              <a:rPr lang="en-US" sz="1000" dirty="0" err="1"/>
              <a:t>centre</a:t>
            </a:r>
            <a:r>
              <a:rPr lang="en-US" sz="1000" dirty="0"/>
              <a:t> of engineering education and earned an excellent reputation both in India and abroad.</a:t>
            </a:r>
          </a:p>
        </p:txBody>
      </p:sp>
      <p:pic>
        <p:nvPicPr>
          <p:cNvPr id="18" name="Picture 17">
            <a:extLst>
              <a:ext uri="{FF2B5EF4-FFF2-40B4-BE49-F238E27FC236}">
                <a16:creationId xmlns:a16="http://schemas.microsoft.com/office/drawing/2014/main" id="{46CEB024-9F95-EF1D-D7C4-29C2C01B98E8}"/>
              </a:ext>
            </a:extLst>
          </p:cNvPr>
          <p:cNvPicPr>
            <a:picLocks noChangeAspect="1"/>
          </p:cNvPicPr>
          <p:nvPr/>
        </p:nvPicPr>
        <p:blipFill>
          <a:blip r:embed="rId5"/>
          <a:stretch>
            <a:fillRect/>
          </a:stretch>
        </p:blipFill>
        <p:spPr>
          <a:xfrm>
            <a:off x="9601201" y="4328161"/>
            <a:ext cx="1107440" cy="1107440"/>
          </a:xfrm>
          <a:prstGeom prst="rect">
            <a:avLst/>
          </a:prstGeom>
        </p:spPr>
      </p:pic>
    </p:spTree>
    <p:extLst>
      <p:ext uri="{BB962C8B-B14F-4D97-AF65-F5344CB8AC3E}">
        <p14:creationId xmlns:p14="http://schemas.microsoft.com/office/powerpoint/2010/main" val="61072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01973FDF-56C0-318A-12C4-D61871E525A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F4630F9E-8FB9-B63B-B672-CC64F1A8B06A}"/>
              </a:ext>
            </a:extLst>
          </p:cNvPr>
          <p:cNvGrpSpPr/>
          <p:nvPr/>
        </p:nvGrpSpPr>
        <p:grpSpPr>
          <a:xfrm>
            <a:off x="0" y="0"/>
            <a:ext cx="12192000" cy="6858000"/>
            <a:chOff x="0" y="0"/>
            <a:chExt cx="9909111" cy="6858000"/>
          </a:xfrm>
          <a:solidFill>
            <a:schemeClr val="bg1"/>
          </a:solidFill>
        </p:grpSpPr>
        <p:sp>
          <p:nvSpPr>
            <p:cNvPr id="4" name="Rectangle 3">
              <a:extLst>
                <a:ext uri="{FF2B5EF4-FFF2-40B4-BE49-F238E27FC236}">
                  <a16:creationId xmlns:a16="http://schemas.microsoft.com/office/drawing/2014/main" id="{6D9D1875-C67F-4463-BD89-08AA664793F6}"/>
                </a:ext>
              </a:extLst>
            </p:cNvPr>
            <p:cNvSpPr/>
            <p:nvPr/>
          </p:nvSpPr>
          <p:spPr>
            <a:xfrm>
              <a:off x="0" y="0"/>
              <a:ext cx="3303037"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DEE392B-2D5D-BE52-376A-B79F43D342C0}"/>
                </a:ext>
              </a:extLst>
            </p:cNvPr>
            <p:cNvSpPr/>
            <p:nvPr/>
          </p:nvSpPr>
          <p:spPr>
            <a:xfrm>
              <a:off x="3303037" y="0"/>
              <a:ext cx="3303037" cy="6858000"/>
            </a:xfrm>
            <a:prstGeom prst="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E054D1F3-48E4-07E9-93A2-E610EE617242}"/>
                </a:ext>
              </a:extLst>
            </p:cNvPr>
            <p:cNvSpPr/>
            <p:nvPr/>
          </p:nvSpPr>
          <p:spPr>
            <a:xfrm>
              <a:off x="6606074" y="0"/>
              <a:ext cx="3303037"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a:extLst>
              <a:ext uri="{FF2B5EF4-FFF2-40B4-BE49-F238E27FC236}">
                <a16:creationId xmlns:a16="http://schemas.microsoft.com/office/drawing/2014/main" id="{881BC015-3A72-01CC-3AF2-2A35E311FBA8}"/>
              </a:ext>
            </a:extLst>
          </p:cNvPr>
          <p:cNvSpPr txBox="1"/>
          <p:nvPr/>
        </p:nvSpPr>
        <p:spPr>
          <a:xfrm>
            <a:off x="262171" y="270916"/>
            <a:ext cx="3591971" cy="6247864"/>
          </a:xfrm>
          <a:prstGeom prst="rect">
            <a:avLst/>
          </a:prstGeom>
          <a:noFill/>
        </p:spPr>
        <p:txBody>
          <a:bodyPr wrap="square" rtlCol="0">
            <a:spAutoFit/>
          </a:bodyPr>
          <a:lstStyle/>
          <a:p>
            <a:pPr algn="ctr">
              <a:spcAft>
                <a:spcPts val="600"/>
              </a:spcAft>
            </a:pPr>
            <a:r>
              <a:rPr lang="en-US" sz="950" b="1" dirty="0">
                <a:ln w="3175">
                  <a:noFill/>
                </a:ln>
                <a:solidFill>
                  <a:srgbClr val="000000"/>
                </a:solidFill>
                <a:ea typeface="Times New Roman" panose="02020603050405020304" pitchFamily="18" charset="0"/>
                <a:cs typeface="Calibri Light" panose="020F0302020204030204" pitchFamily="34" charset="0"/>
              </a:rPr>
              <a:t>ABOUT THE DEPARTMENT </a:t>
            </a:r>
          </a:p>
          <a:p>
            <a:pPr algn="just">
              <a:spcAft>
                <a:spcPts val="600"/>
              </a:spcAft>
            </a:pPr>
            <a:r>
              <a:rPr lang="en-US" sz="950" dirty="0"/>
              <a:t>The Department of Production Technology, MIT Campus, Anna University, proudly celebrates its Golden Jubilee (1977–2027), marking 50 Years of Excellence in engineering education, research, and innovation. Established in 1977 as the fifth department of MIT Campus, it has grown into a leading multidisciplinary </a:t>
            </a:r>
            <a:r>
              <a:rPr lang="en-US" sz="950" dirty="0" err="1"/>
              <a:t>centre</a:t>
            </a:r>
            <a:r>
              <a:rPr lang="en-US" sz="950" dirty="0"/>
              <a:t> for Manufacturing, Automation, Robotics, and Mechatronics, consistently aligning academic learning with modern industrial and technological needs. The department offers a strong portfolio of </a:t>
            </a:r>
            <a:r>
              <a:rPr lang="en-US" sz="950" dirty="0" err="1"/>
              <a:t>programmes</a:t>
            </a:r>
            <a:r>
              <a:rPr lang="en-US" sz="950" dirty="0"/>
              <a:t>, including B.E. Production Engineering, B.E. Robotics and Automation, M.E. Manufacturing Engineering, and M.E. Mechatronics, along with part-time B.E. Mechanical Engineering and Ph.D. research opportunities. A notable milestone in its journey was the introduction of one of India’s earliest full-time M.E. Mechatronics </a:t>
            </a:r>
            <a:r>
              <a:rPr lang="en-US" sz="950" dirty="0" err="1"/>
              <a:t>programmes</a:t>
            </a:r>
            <a:r>
              <a:rPr lang="en-US" sz="950" dirty="0"/>
              <a:t> in 1999, reflecting its leadership in interdisciplinary and technology-driven education. Over the years, the department has contributed significantly to academic excellence, impactful research, and industry engagement. It has hosted and supported major conferences and </a:t>
            </a:r>
            <a:r>
              <a:rPr lang="en-US" sz="950" dirty="0" err="1"/>
              <a:t>programmes</a:t>
            </a:r>
            <a:r>
              <a:rPr lang="en-US" sz="950" dirty="0"/>
              <a:t> such as AIRPAM, ADFORM, RIPE, and RETNAM, along with seminars, FDPs, and technical events. Supported by agencies such as AICTE, DST-FIST, UGC-DRS/SAP, DRDO (NRB), DST-SERB, CMRG, and TANII, and strengthened by NBA accreditation and UGC-UPE recognition, the department continues to nurture future-ready engineers for Industry 5.0 and beyond.</a:t>
            </a:r>
          </a:p>
          <a:p>
            <a:pPr algn="just">
              <a:spcAft>
                <a:spcPts val="600"/>
              </a:spcAft>
            </a:pPr>
            <a:r>
              <a:rPr lang="en-US" sz="950" b="1" dirty="0"/>
              <a:t>ABOUT THE CONFERENCE</a:t>
            </a:r>
          </a:p>
          <a:p>
            <a:pPr algn="just">
              <a:spcAft>
                <a:spcPts val="600"/>
              </a:spcAft>
            </a:pPr>
            <a:r>
              <a:rPr lang="en-US" sz="950" dirty="0"/>
              <a:t>The Department of Production Technology is organizing the 3rd International Conference on Recent Innovations in Production Engineering (RIPE 2027), building on its legacy of conferences and workshops in manufacturing, design, mechatronics, automation, and inspection. RIPE 2027 will unite researchers to exchange ideas, address challenges, learn new methods, and gain insights through keynote lectures by eminent speakers. The themes of the conference (but not limited to) are</a:t>
            </a:r>
          </a:p>
          <a:p>
            <a:pPr algn="just">
              <a:spcAft>
                <a:spcPts val="600"/>
              </a:spcAft>
            </a:pPr>
            <a:r>
              <a:rPr lang="en-US" sz="950" dirty="0"/>
              <a:t>● Sustainable Manufacturing ● Robotics and Automation  ● Industry 5.0 ● Additive Manufacturing ● Advanced manufacturing ● Composites ● Smart Materials ● Surface Engineering ● Resource Management</a:t>
            </a:r>
          </a:p>
        </p:txBody>
      </p:sp>
      <p:sp>
        <p:nvSpPr>
          <p:cNvPr id="3" name="TextBox 2">
            <a:extLst>
              <a:ext uri="{FF2B5EF4-FFF2-40B4-BE49-F238E27FC236}">
                <a16:creationId xmlns:a16="http://schemas.microsoft.com/office/drawing/2014/main" id="{8988EEC3-CA27-88B7-135F-B5C921B11EE8}"/>
              </a:ext>
            </a:extLst>
          </p:cNvPr>
          <p:cNvSpPr txBox="1"/>
          <p:nvPr/>
        </p:nvSpPr>
        <p:spPr>
          <a:xfrm>
            <a:off x="4320223" y="225425"/>
            <a:ext cx="3591971" cy="1138773"/>
          </a:xfrm>
          <a:prstGeom prst="rect">
            <a:avLst/>
          </a:prstGeom>
          <a:noFill/>
        </p:spPr>
        <p:txBody>
          <a:bodyPr wrap="square" rtlCol="0">
            <a:spAutoFit/>
          </a:bodyPr>
          <a:lstStyle/>
          <a:p>
            <a:pPr algn="just"/>
            <a:r>
              <a:rPr lang="en-US" sz="850" b="1" dirty="0"/>
              <a:t>JOURNAL PUBLICATIONS</a:t>
            </a:r>
          </a:p>
          <a:p>
            <a:pPr algn="just"/>
            <a:endParaRPr lang="en-US" sz="850" dirty="0"/>
          </a:p>
          <a:p>
            <a:pPr algn="just"/>
            <a:r>
              <a:rPr lang="en-US" sz="850" dirty="0"/>
              <a:t>After peer review process, all the accepted and presented papers, will be published in Scopus indexed proceedings / journals. Please refer the conference website for the list of the Q1 and Q2 journals. </a:t>
            </a:r>
          </a:p>
          <a:p>
            <a:pPr algn="just"/>
            <a:endParaRPr lang="en-US" sz="850" b="1" dirty="0"/>
          </a:p>
          <a:p>
            <a:pPr algn="just"/>
            <a:r>
              <a:rPr lang="en-US" sz="850" b="1" dirty="0"/>
              <a:t>High quality research papers are invited in the following</a:t>
            </a:r>
          </a:p>
          <a:p>
            <a:pPr algn="just">
              <a:spcAft>
                <a:spcPts val="600"/>
              </a:spcAft>
            </a:pPr>
            <a:r>
              <a:rPr lang="en-US" sz="850" b="1" dirty="0"/>
              <a:t>areas, but not limited to :</a:t>
            </a:r>
            <a:endParaRPr lang="en-US" sz="850" dirty="0"/>
          </a:p>
        </p:txBody>
      </p:sp>
      <p:sp>
        <p:nvSpPr>
          <p:cNvPr id="6" name="TextBox 5">
            <a:extLst>
              <a:ext uri="{FF2B5EF4-FFF2-40B4-BE49-F238E27FC236}">
                <a16:creationId xmlns:a16="http://schemas.microsoft.com/office/drawing/2014/main" id="{26027FC1-B341-FEA6-4D15-96E64B05C226}"/>
              </a:ext>
            </a:extLst>
          </p:cNvPr>
          <p:cNvSpPr txBox="1"/>
          <p:nvPr/>
        </p:nvSpPr>
        <p:spPr>
          <a:xfrm>
            <a:off x="4273858" y="5720937"/>
            <a:ext cx="3638336" cy="1061829"/>
          </a:xfrm>
          <a:prstGeom prst="rect">
            <a:avLst/>
          </a:prstGeom>
          <a:noFill/>
        </p:spPr>
        <p:txBody>
          <a:bodyPr wrap="square" rtlCol="0">
            <a:spAutoFit/>
          </a:bodyPr>
          <a:lstStyle/>
          <a:p>
            <a:r>
              <a:rPr lang="en-US" sz="900" b="1" dirty="0"/>
              <a:t>DEADLINES</a:t>
            </a:r>
          </a:p>
          <a:p>
            <a:endParaRPr lang="en-US" sz="900" b="1" dirty="0"/>
          </a:p>
          <a:p>
            <a:r>
              <a:rPr lang="en-US" sz="900" b="1" dirty="0"/>
              <a:t>Abstract Submission Mail Id	:   ripe2027@mitindia.edu</a:t>
            </a:r>
          </a:p>
          <a:p>
            <a:r>
              <a:rPr lang="en-US" sz="900" b="1" dirty="0"/>
              <a:t>Abstract Submission	:   15</a:t>
            </a:r>
            <a:r>
              <a:rPr lang="en-US" sz="900" b="1" baseline="30000" dirty="0"/>
              <a:t>th</a:t>
            </a:r>
            <a:r>
              <a:rPr lang="en-US" sz="900" b="1" dirty="0"/>
              <a:t> July 2026</a:t>
            </a:r>
          </a:p>
          <a:p>
            <a:r>
              <a:rPr lang="en-US" sz="900" b="1" dirty="0"/>
              <a:t>Intimation of Paper Acceptance	:   31</a:t>
            </a:r>
            <a:r>
              <a:rPr lang="en-US" sz="900" b="1" baseline="30000" dirty="0"/>
              <a:t>st</a:t>
            </a:r>
            <a:r>
              <a:rPr lang="en-US" sz="900" b="1" dirty="0"/>
              <a:t> August 2026</a:t>
            </a:r>
          </a:p>
          <a:p>
            <a:r>
              <a:rPr lang="en-US" sz="900" b="1" dirty="0"/>
              <a:t>Camera-Ready Paper Submission:   30</a:t>
            </a:r>
            <a:r>
              <a:rPr lang="en-US" sz="900" b="1" baseline="30000" dirty="0"/>
              <a:t>th</a:t>
            </a:r>
            <a:r>
              <a:rPr lang="en-US" sz="900" b="1" dirty="0"/>
              <a:t> September 2026 </a:t>
            </a:r>
          </a:p>
          <a:p>
            <a:r>
              <a:rPr lang="en-US" sz="900" b="1" dirty="0"/>
              <a:t>RIPE 2026 Conference	:   22</a:t>
            </a:r>
            <a:r>
              <a:rPr lang="en-US" sz="900" b="1" baseline="30000" dirty="0"/>
              <a:t>nd</a:t>
            </a:r>
            <a:r>
              <a:rPr lang="en-US" sz="900" b="1" dirty="0"/>
              <a:t> – 23</a:t>
            </a:r>
            <a:r>
              <a:rPr lang="en-US" sz="900" b="1" baseline="30000" dirty="0"/>
              <a:t>rd</a:t>
            </a:r>
            <a:r>
              <a:rPr lang="en-US" sz="900" b="1" dirty="0"/>
              <a:t> January 2027</a:t>
            </a:r>
          </a:p>
        </p:txBody>
      </p:sp>
      <p:sp>
        <p:nvSpPr>
          <p:cNvPr id="7" name="TextBox 6">
            <a:extLst>
              <a:ext uri="{FF2B5EF4-FFF2-40B4-BE49-F238E27FC236}">
                <a16:creationId xmlns:a16="http://schemas.microsoft.com/office/drawing/2014/main" id="{EA74EFEC-5157-44D4-EF95-D6C5A8DF8E1A}"/>
              </a:ext>
            </a:extLst>
          </p:cNvPr>
          <p:cNvSpPr txBox="1"/>
          <p:nvPr/>
        </p:nvSpPr>
        <p:spPr>
          <a:xfrm>
            <a:off x="8384223" y="185288"/>
            <a:ext cx="3591971" cy="3370153"/>
          </a:xfrm>
          <a:prstGeom prst="rect">
            <a:avLst/>
          </a:prstGeom>
          <a:noFill/>
        </p:spPr>
        <p:txBody>
          <a:bodyPr wrap="square" rtlCol="0">
            <a:spAutoFit/>
          </a:bodyPr>
          <a:lstStyle/>
          <a:p>
            <a:pPr>
              <a:spcAft>
                <a:spcPts val="600"/>
              </a:spcAft>
            </a:pPr>
            <a:r>
              <a:rPr lang="en-US" sz="800" b="1" dirty="0"/>
              <a:t>NATIONAL ADVISORY COMMITTEE </a:t>
            </a:r>
          </a:p>
          <a:p>
            <a:r>
              <a:rPr lang="en-US" sz="800" dirty="0"/>
              <a:t>Dr. J. John Rozario Jegaraj, DRDL </a:t>
            </a:r>
          </a:p>
          <a:p>
            <a:r>
              <a:rPr lang="en-US" sz="800" dirty="0"/>
              <a:t>Dr. Vamsi Krishna Balla, CSIR</a:t>
            </a:r>
          </a:p>
          <a:p>
            <a:r>
              <a:rPr lang="en-US" sz="800" dirty="0"/>
              <a:t>Dr. Rajan T P D, CSIR</a:t>
            </a:r>
          </a:p>
          <a:p>
            <a:r>
              <a:rPr lang="en-US" sz="800" dirty="0"/>
              <a:t>Dr. K. Hariharan, IIT Madras</a:t>
            </a:r>
          </a:p>
          <a:p>
            <a:r>
              <a:rPr lang="en-US" sz="800" dirty="0"/>
              <a:t>Dr. S. Aravindan, IIT Delhi</a:t>
            </a:r>
          </a:p>
          <a:p>
            <a:r>
              <a:rPr lang="en-US" sz="800" dirty="0"/>
              <a:t>Dr. J. Ramkumar, IIT Kanpur</a:t>
            </a:r>
          </a:p>
          <a:p>
            <a:r>
              <a:rPr lang="en-US" sz="800" dirty="0"/>
              <a:t>Dr. Somashekhar S Hiremath, IIT Madras</a:t>
            </a:r>
          </a:p>
          <a:p>
            <a:r>
              <a:rPr lang="en-US" sz="800" dirty="0"/>
              <a:t>Dr. P. Ram Kumar, IIT Madras</a:t>
            </a:r>
          </a:p>
          <a:p>
            <a:r>
              <a:rPr lang="en-US" sz="800" dirty="0"/>
              <a:t>Dr. M. Balasubramanium, IIT Madras</a:t>
            </a:r>
          </a:p>
          <a:p>
            <a:r>
              <a:rPr lang="en-US" sz="800" dirty="0"/>
              <a:t>Dr. S. Kanagaraj, IIT Guwahati</a:t>
            </a:r>
          </a:p>
          <a:p>
            <a:r>
              <a:rPr lang="en-US" sz="800" dirty="0"/>
              <a:t>Dr. D. Mohanlal, Anna University, Chennai</a:t>
            </a:r>
          </a:p>
          <a:p>
            <a:r>
              <a:rPr lang="en-US" sz="800" dirty="0"/>
              <a:t>Dr. K. Kalaichelvan, Anna University, Chennai</a:t>
            </a:r>
          </a:p>
          <a:p>
            <a:r>
              <a:rPr lang="en-US" sz="800" dirty="0"/>
              <a:t>Dr. S. </a:t>
            </a:r>
            <a:r>
              <a:rPr lang="en-US" sz="800" dirty="0" err="1"/>
              <a:t>Balasivanandha</a:t>
            </a:r>
            <a:r>
              <a:rPr lang="en-US" sz="800" dirty="0"/>
              <a:t> Prabu, Anna University, Chennai</a:t>
            </a:r>
          </a:p>
          <a:p>
            <a:r>
              <a:rPr lang="en-US" sz="800" dirty="0"/>
              <a:t>Dr. M. </a:t>
            </a:r>
            <a:r>
              <a:rPr lang="en-US" sz="800" dirty="0" err="1"/>
              <a:t>Omkumar</a:t>
            </a:r>
            <a:r>
              <a:rPr lang="en-US" sz="800" dirty="0"/>
              <a:t>, Anna University, Chennai </a:t>
            </a:r>
          </a:p>
          <a:p>
            <a:r>
              <a:rPr lang="en-US" sz="800" dirty="0"/>
              <a:t>Dr. M. </a:t>
            </a:r>
            <a:r>
              <a:rPr lang="en-US" sz="800" dirty="0" err="1"/>
              <a:t>Kanthababu</a:t>
            </a:r>
            <a:r>
              <a:rPr lang="en-US" sz="800" dirty="0"/>
              <a:t>, Anna University, Chennai </a:t>
            </a:r>
          </a:p>
          <a:p>
            <a:r>
              <a:rPr lang="en-US" sz="800" dirty="0"/>
              <a:t>Dr. R. </a:t>
            </a:r>
            <a:r>
              <a:rPr lang="en-US" sz="800" dirty="0" err="1"/>
              <a:t>Dillibabu</a:t>
            </a:r>
            <a:r>
              <a:rPr lang="en-US" sz="800" dirty="0"/>
              <a:t>, Anna University, Chennai </a:t>
            </a:r>
          </a:p>
          <a:p>
            <a:r>
              <a:rPr lang="en-US" sz="800" dirty="0"/>
              <a:t>Dr. P. Parthiban, NIT Trichy</a:t>
            </a:r>
          </a:p>
          <a:p>
            <a:r>
              <a:rPr lang="en-US" sz="800" dirty="0"/>
              <a:t>Dr. V. Anandakrishnan, NIT Trichy</a:t>
            </a:r>
          </a:p>
          <a:p>
            <a:r>
              <a:rPr lang="en-US" sz="800" dirty="0"/>
              <a:t>Dr. Ing. M. </a:t>
            </a:r>
            <a:r>
              <a:rPr lang="en-US" sz="800" dirty="0" err="1"/>
              <a:t>Duraiselvam</a:t>
            </a:r>
            <a:r>
              <a:rPr lang="en-US" sz="800" dirty="0"/>
              <a:t>, NIT Trichy</a:t>
            </a:r>
          </a:p>
          <a:p>
            <a:r>
              <a:rPr lang="en-US" sz="800" dirty="0"/>
              <a:t>Dr. Santhakumar Mohan, IIT Palakkad</a:t>
            </a:r>
          </a:p>
          <a:p>
            <a:r>
              <a:rPr lang="en-US" sz="800" dirty="0"/>
              <a:t>Dr. S. Murugan, NIT, Rourkela</a:t>
            </a:r>
          </a:p>
          <a:p>
            <a:r>
              <a:rPr lang="en-US" sz="800" dirty="0"/>
              <a:t>Dr. I. A. Palani, IIT Indore</a:t>
            </a:r>
          </a:p>
          <a:p>
            <a:r>
              <a:rPr lang="en-US" sz="800" dirty="0"/>
              <a:t>Dr. K. Palanikumar, Sairam </a:t>
            </a:r>
            <a:r>
              <a:rPr lang="en-US" sz="800" dirty="0" err="1"/>
              <a:t>Engg</a:t>
            </a:r>
            <a:r>
              <a:rPr lang="en-US" sz="800" dirty="0"/>
              <a:t>. College, Chennai </a:t>
            </a:r>
          </a:p>
          <a:p>
            <a:r>
              <a:rPr lang="en-US" sz="800" dirty="0"/>
              <a:t>Dr. T. Muthuramalingam, SRM, Chennai</a:t>
            </a:r>
          </a:p>
          <a:p>
            <a:r>
              <a:rPr lang="en-US" sz="800" dirty="0"/>
              <a:t>Dr. </a:t>
            </a:r>
            <a:r>
              <a:rPr lang="en-US" sz="800" dirty="0" err="1"/>
              <a:t>Arockia</a:t>
            </a:r>
            <a:r>
              <a:rPr lang="en-US" sz="800" dirty="0"/>
              <a:t> Selvakumar, VIT, Chennai</a:t>
            </a:r>
          </a:p>
        </p:txBody>
      </p:sp>
      <p:sp>
        <p:nvSpPr>
          <p:cNvPr id="10" name="TextBox 9">
            <a:extLst>
              <a:ext uri="{FF2B5EF4-FFF2-40B4-BE49-F238E27FC236}">
                <a16:creationId xmlns:a16="http://schemas.microsoft.com/office/drawing/2014/main" id="{B84FB09B-C972-EC1B-B362-DAE28ED7EC23}"/>
              </a:ext>
            </a:extLst>
          </p:cNvPr>
          <p:cNvSpPr txBox="1"/>
          <p:nvPr/>
        </p:nvSpPr>
        <p:spPr>
          <a:xfrm>
            <a:off x="8384223" y="3563746"/>
            <a:ext cx="3591971" cy="3123932"/>
          </a:xfrm>
          <a:prstGeom prst="rect">
            <a:avLst/>
          </a:prstGeom>
          <a:noFill/>
        </p:spPr>
        <p:txBody>
          <a:bodyPr wrap="square" rtlCol="0">
            <a:spAutoFit/>
          </a:bodyPr>
          <a:lstStyle/>
          <a:p>
            <a:pPr>
              <a:spcAft>
                <a:spcPts val="600"/>
              </a:spcAft>
            </a:pPr>
            <a:r>
              <a:rPr lang="en-US" sz="800" b="1" dirty="0"/>
              <a:t>INTERNATIONAL ADVISORY COMMITTEE </a:t>
            </a:r>
          </a:p>
          <a:p>
            <a:r>
              <a:rPr lang="en-US" sz="800" dirty="0"/>
              <a:t>Prof. Abdel S. Makhlouf, </a:t>
            </a:r>
          </a:p>
          <a:p>
            <a:r>
              <a:rPr lang="en-US" sz="800" dirty="0"/>
              <a:t>University of Texas Rio Grande Valley, USA</a:t>
            </a:r>
          </a:p>
          <a:p>
            <a:r>
              <a:rPr lang="en-US" sz="800" dirty="0"/>
              <a:t>Prof. Manoj Gupta, </a:t>
            </a:r>
          </a:p>
          <a:p>
            <a:r>
              <a:rPr lang="en-US" sz="800" dirty="0"/>
              <a:t>National University of Singapore, Singapore</a:t>
            </a:r>
          </a:p>
          <a:p>
            <a:r>
              <a:rPr lang="en-US" sz="800" dirty="0"/>
              <a:t>Prof. Ille C. </a:t>
            </a:r>
            <a:r>
              <a:rPr lang="en-US" sz="800" dirty="0" err="1"/>
              <a:t>Gebeshuber</a:t>
            </a:r>
            <a:r>
              <a:rPr lang="en-US" sz="800" dirty="0"/>
              <a:t>,</a:t>
            </a:r>
          </a:p>
          <a:p>
            <a:r>
              <a:rPr lang="en-US" sz="800" dirty="0"/>
              <a:t>Vienna </a:t>
            </a:r>
            <a:r>
              <a:rPr lang="en-US" sz="800" dirty="0" err="1"/>
              <a:t>Univerisity</a:t>
            </a:r>
            <a:r>
              <a:rPr lang="en-US" sz="800" dirty="0"/>
              <a:t> of Technology, Austria</a:t>
            </a:r>
          </a:p>
          <a:p>
            <a:r>
              <a:rPr lang="en-US" sz="800" dirty="0"/>
              <a:t>Prof. R. Karthikeyan, BITS Dubai</a:t>
            </a:r>
          </a:p>
          <a:p>
            <a:r>
              <a:rPr lang="en-US" sz="800" dirty="0"/>
              <a:t>Prof. J. Paulo Davim, </a:t>
            </a:r>
          </a:p>
          <a:p>
            <a:r>
              <a:rPr lang="en-US" sz="800" dirty="0"/>
              <a:t>University of Aveiro, Portugal</a:t>
            </a:r>
          </a:p>
          <a:p>
            <a:r>
              <a:rPr lang="en-US" sz="800" dirty="0"/>
              <a:t>Prof. Doriana D’Addona, </a:t>
            </a:r>
          </a:p>
          <a:p>
            <a:r>
              <a:rPr lang="en-US" sz="800" dirty="0"/>
              <a:t>University of Naples Federico, Italy</a:t>
            </a:r>
          </a:p>
          <a:p>
            <a:r>
              <a:rPr lang="en-US" sz="800" dirty="0"/>
              <a:t>Prof, Martin Birkett, </a:t>
            </a:r>
          </a:p>
          <a:p>
            <a:r>
              <a:rPr lang="en-US" sz="800" dirty="0"/>
              <a:t>Northumbria University, Newcastle, England</a:t>
            </a:r>
          </a:p>
          <a:p>
            <a:r>
              <a:rPr lang="en-US" sz="800" dirty="0"/>
              <a:t>Prof. Alexandre </a:t>
            </a:r>
            <a:r>
              <a:rPr lang="en-US" sz="800" dirty="0" err="1"/>
              <a:t>Dolgui</a:t>
            </a:r>
            <a:r>
              <a:rPr lang="en-US" sz="800" dirty="0"/>
              <a:t>, </a:t>
            </a:r>
          </a:p>
          <a:p>
            <a:r>
              <a:rPr lang="en-US" sz="800" dirty="0"/>
              <a:t>Ecole des Mines de Nantes, La </a:t>
            </a:r>
            <a:r>
              <a:rPr lang="en-US" sz="800" dirty="0" err="1"/>
              <a:t>Chantrerie</a:t>
            </a:r>
            <a:r>
              <a:rPr lang="en-US" sz="800" dirty="0"/>
              <a:t>, France</a:t>
            </a:r>
          </a:p>
          <a:p>
            <a:r>
              <a:rPr lang="en-US" sz="800" dirty="0"/>
              <a:t>Prof. Ashfaq Mohammad, </a:t>
            </a:r>
          </a:p>
          <a:p>
            <a:r>
              <a:rPr lang="en-US" sz="800" dirty="0"/>
              <a:t>King Saud University, </a:t>
            </a:r>
            <a:r>
              <a:rPr lang="en-US" sz="800" dirty="0" err="1"/>
              <a:t>Riyadg</a:t>
            </a:r>
            <a:r>
              <a:rPr lang="en-US" sz="800" dirty="0"/>
              <a:t>, Saudi Arabia</a:t>
            </a:r>
          </a:p>
          <a:p>
            <a:r>
              <a:rPr lang="en-US" sz="800" dirty="0"/>
              <a:t>Prof. </a:t>
            </a:r>
            <a:r>
              <a:rPr lang="en-US" sz="800" dirty="0" err="1"/>
              <a:t>Tibikram</a:t>
            </a:r>
            <a:r>
              <a:rPr lang="en-US" sz="800" dirty="0"/>
              <a:t> Kundu, </a:t>
            </a:r>
          </a:p>
          <a:p>
            <a:r>
              <a:rPr lang="en-US" sz="800" dirty="0"/>
              <a:t>University of Arizona USA</a:t>
            </a:r>
          </a:p>
          <a:p>
            <a:r>
              <a:rPr lang="en-US" sz="800" dirty="0"/>
              <a:t>Prof. Tom Page, Loughborough University, UK</a:t>
            </a:r>
          </a:p>
          <a:p>
            <a:r>
              <a:rPr lang="en-US" sz="800" dirty="0"/>
              <a:t>Prof. Yasuhiro Hayakawa, </a:t>
            </a:r>
            <a:r>
              <a:rPr lang="en-US" sz="800" dirty="0" err="1"/>
              <a:t>Shizuola</a:t>
            </a:r>
            <a:r>
              <a:rPr lang="en-US" sz="800" dirty="0"/>
              <a:t> University, Japan</a:t>
            </a:r>
          </a:p>
          <a:p>
            <a:r>
              <a:rPr lang="en-US" sz="800" dirty="0"/>
              <a:t>Prof. Zeinab Abdel Hamid, </a:t>
            </a:r>
          </a:p>
          <a:p>
            <a:r>
              <a:rPr lang="en-US" sz="800" dirty="0"/>
              <a:t>Central Metallurgical R &amp; D Institute, Egypt</a:t>
            </a:r>
          </a:p>
        </p:txBody>
      </p:sp>
      <p:graphicFrame>
        <p:nvGraphicFramePr>
          <p:cNvPr id="13" name="Table 12">
            <a:extLst>
              <a:ext uri="{FF2B5EF4-FFF2-40B4-BE49-F238E27FC236}">
                <a16:creationId xmlns:a16="http://schemas.microsoft.com/office/drawing/2014/main" id="{5047384E-0714-8DDE-33E0-60740A3A55BE}"/>
              </a:ext>
            </a:extLst>
          </p:cNvPr>
          <p:cNvGraphicFramePr>
            <a:graphicFrameLocks noGrp="1"/>
          </p:cNvGraphicFramePr>
          <p:nvPr>
            <p:extLst>
              <p:ext uri="{D42A27DB-BD31-4B8C-83A1-F6EECF244321}">
                <p14:modId xmlns:p14="http://schemas.microsoft.com/office/powerpoint/2010/main" val="1940594259"/>
              </p:ext>
            </p:extLst>
          </p:nvPr>
        </p:nvGraphicFramePr>
        <p:xfrm>
          <a:off x="4110365" y="1336258"/>
          <a:ext cx="3959215" cy="4299897"/>
        </p:xfrm>
        <a:graphic>
          <a:graphicData uri="http://schemas.openxmlformats.org/drawingml/2006/table">
            <a:tbl>
              <a:tblPr bandRow="1">
                <a:tableStyleId>{5C22544A-7EE6-4342-B048-85BDC9FD1C3A}</a:tableStyleId>
              </a:tblPr>
              <a:tblGrid>
                <a:gridCol w="2048211">
                  <a:extLst>
                    <a:ext uri="{9D8B030D-6E8A-4147-A177-3AD203B41FA5}">
                      <a16:colId xmlns:a16="http://schemas.microsoft.com/office/drawing/2014/main" val="441166393"/>
                    </a:ext>
                  </a:extLst>
                </a:gridCol>
                <a:gridCol w="1911004">
                  <a:extLst>
                    <a:ext uri="{9D8B030D-6E8A-4147-A177-3AD203B41FA5}">
                      <a16:colId xmlns:a16="http://schemas.microsoft.com/office/drawing/2014/main" val="3855379556"/>
                    </a:ext>
                  </a:extLst>
                </a:gridCol>
              </a:tblGrid>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Sustainable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Joining Technologies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6486072"/>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Additive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Forming Processes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2211974"/>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Smart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Resource Management</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81424574"/>
                  </a:ext>
                </a:extLst>
              </a:tr>
              <a:tr h="234976">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Industry 4.0 and Industry 5.0</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Processing of Composites and Polymers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12511969"/>
                  </a:ext>
                </a:extLst>
              </a:tr>
              <a:tr h="173457">
                <a:tc>
                  <a:txBody>
                    <a:bodyPr/>
                    <a:lstStyle/>
                    <a:p>
                      <a:pPr marL="400050" indent="-171450">
                        <a:buFont typeface="Arial" panose="020B0604020202020204" pitchFamily="34" charset="0"/>
                        <a:buChar char="•"/>
                      </a:pPr>
                      <a:r>
                        <a:rPr lang="en-IN" sz="800" kern="1200">
                          <a:solidFill>
                            <a:schemeClr val="tx1"/>
                          </a:solidFill>
                          <a:latin typeface="+mn-lt"/>
                          <a:ea typeface="+mn-ea"/>
                          <a:cs typeface="+mn-cs"/>
                        </a:rPr>
                        <a:t>Cyber-Physical Systems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Energy Beam Processing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44438720"/>
                  </a:ext>
                </a:extLst>
              </a:tr>
              <a:tr h="173457">
                <a:tc>
                  <a:txBody>
                    <a:bodyPr/>
                    <a:lstStyle/>
                    <a:p>
                      <a:pPr marL="400050" indent="-171450">
                        <a:buFont typeface="Arial" panose="020B0604020202020204" pitchFamily="34" charset="0"/>
                        <a:buChar char="•"/>
                      </a:pPr>
                      <a:r>
                        <a:rPr lang="en-IN" sz="800" kern="1200">
                          <a:solidFill>
                            <a:schemeClr val="tx1"/>
                          </a:solidFill>
                          <a:latin typeface="+mn-lt"/>
                          <a:ea typeface="+mn-ea"/>
                          <a:cs typeface="+mn-cs"/>
                        </a:rPr>
                        <a:t>Automation and Smart Systems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Surface Engineering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97273"/>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AI and ML in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Reverse Engineering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2754401"/>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Hybrid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Gear Engineering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02057535"/>
                  </a:ext>
                </a:extLst>
              </a:tr>
              <a:tr h="173457">
                <a:tc>
                  <a:txBody>
                    <a:bodyPr/>
                    <a:lstStyle/>
                    <a:p>
                      <a:pPr marL="400050" indent="-171450">
                        <a:buFont typeface="Arial" panose="020B0604020202020204" pitchFamily="34" charset="0"/>
                        <a:buChar char="•"/>
                      </a:pPr>
                      <a:r>
                        <a:rPr lang="en-IN" sz="800" kern="1200">
                          <a:solidFill>
                            <a:schemeClr val="tx1"/>
                          </a:solidFill>
                          <a:latin typeface="+mn-lt"/>
                          <a:ea typeface="+mn-ea"/>
                          <a:cs typeface="+mn-cs"/>
                        </a:rPr>
                        <a:t>Digital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Precision Engineering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70802123"/>
                  </a:ext>
                </a:extLst>
              </a:tr>
              <a:tr h="234976">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Micro and Nano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Computations in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57650963"/>
                  </a:ext>
                </a:extLst>
              </a:tr>
              <a:tr h="234976">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Manufacturing Modelling and Simulation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Metrology and Quality Engineering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93228813"/>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Advanced Machining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Smart Materials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8464161"/>
                  </a:ext>
                </a:extLst>
              </a:tr>
              <a:tr h="234976">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Thermal Aspects in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Robotics and Automation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2374066"/>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Advances in Cutting Tools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CAD/CAM/CAE</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17504217"/>
                  </a:ext>
                </a:extLst>
              </a:tr>
              <a:tr h="173457">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Modern Trends in Machine Tools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buFont typeface="Arial" panose="020B0604020202020204" pitchFamily="34" charset="0"/>
                        <a:buChar char="•"/>
                      </a:pPr>
                      <a:r>
                        <a:rPr lang="en-IN" sz="800" kern="1200" dirty="0">
                          <a:solidFill>
                            <a:schemeClr val="tx1"/>
                          </a:solidFill>
                          <a:latin typeface="+mn-lt"/>
                          <a:ea typeface="+mn-ea"/>
                          <a:cs typeface="+mn-cs"/>
                        </a:rPr>
                        <a:t>Advanced Manufacturing</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60296645"/>
                  </a:ext>
                </a:extLst>
              </a:tr>
              <a:tr h="173457">
                <a:tc gridSpan="2">
                  <a:txBody>
                    <a:bodyPr/>
                    <a:lstStyle/>
                    <a:p>
                      <a:pPr marL="228600" indent="0" algn="ctr">
                        <a:buFont typeface="Arial" panose="020B0604020202020204" pitchFamily="34" charset="0"/>
                        <a:buNone/>
                      </a:pPr>
                      <a:endParaRPr lang="en-IN" sz="800" b="1" kern="1200" dirty="0">
                        <a:solidFill>
                          <a:schemeClr val="tx1"/>
                        </a:solidFill>
                        <a:latin typeface="+mn-lt"/>
                        <a:ea typeface="+mn-ea"/>
                        <a:cs typeface="+mn-cs"/>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IN"/>
                    </a:p>
                  </a:txBody>
                  <a:tcPr/>
                </a:tc>
                <a:extLst>
                  <a:ext uri="{0D108BD9-81ED-4DB2-BD59-A6C34878D82A}">
                    <a16:rowId xmlns:a16="http://schemas.microsoft.com/office/drawing/2014/main" val="1466332165"/>
                  </a:ext>
                </a:extLst>
              </a:tr>
              <a:tr h="173457">
                <a:tc gridSpan="2">
                  <a:txBody>
                    <a:bodyPr/>
                    <a:lstStyle/>
                    <a:p>
                      <a:pPr marL="228600" indent="0" algn="ctr">
                        <a:buFont typeface="Arial" panose="020B0604020202020204" pitchFamily="34" charset="0"/>
                        <a:buNone/>
                      </a:pPr>
                      <a:r>
                        <a:rPr lang="en-US" sz="900" b="1" kern="1200" dirty="0">
                          <a:solidFill>
                            <a:schemeClr val="tx1"/>
                          </a:solidFill>
                          <a:latin typeface="+mn-lt"/>
                          <a:ea typeface="+mn-ea"/>
                          <a:cs typeface="+mn-cs"/>
                        </a:rPr>
                        <a:t>Committee Members </a:t>
                      </a:r>
                      <a:endParaRPr lang="en-IN" sz="900" b="1" kern="1200" dirty="0">
                        <a:solidFill>
                          <a:schemeClr val="tx1"/>
                        </a:solidFill>
                        <a:latin typeface="+mn-lt"/>
                        <a:ea typeface="+mn-ea"/>
                        <a:cs typeface="+mn-cs"/>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marL="400050" indent="-171450">
                        <a:buFont typeface="Arial" panose="020B0604020202020204" pitchFamily="34" charset="0"/>
                        <a:buChar char="•"/>
                      </a:pPr>
                      <a:endParaRPr lang="en-IN" sz="800" kern="1200" dirty="0">
                        <a:solidFill>
                          <a:schemeClr val="tx1"/>
                        </a:solidFill>
                        <a:latin typeface="+mn-lt"/>
                        <a:ea typeface="+mn-ea"/>
                        <a:cs typeface="+mn-cs"/>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02217774"/>
                  </a:ext>
                </a:extLst>
              </a:tr>
              <a:tr h="202311">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Dr. A. Siddharthan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Dr. M. Manoj</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55475360"/>
                  </a:ext>
                </a:extLst>
              </a:tr>
              <a:tr h="173457">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Dr. G. B. Bhaskar</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Mr. P. </a:t>
                      </a:r>
                      <a:r>
                        <a:rPr lang="en-IN" sz="900" kern="1200" dirty="0" err="1">
                          <a:solidFill>
                            <a:schemeClr val="tx1"/>
                          </a:solidFill>
                          <a:latin typeface="+mn-lt"/>
                          <a:ea typeface="+mn-ea"/>
                          <a:cs typeface="+mn-cs"/>
                        </a:rPr>
                        <a:t>Rethinum</a:t>
                      </a:r>
                      <a:endParaRPr lang="en-IN" sz="900" kern="1200" dirty="0">
                        <a:solidFill>
                          <a:schemeClr val="tx1"/>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34462327"/>
                  </a:ext>
                </a:extLst>
              </a:tr>
              <a:tr h="173457">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Dr. S. Vijayakumar</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Mr. K. Tamilarasan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12192920"/>
                  </a:ext>
                </a:extLst>
              </a:tr>
              <a:tr h="173457">
                <a:tc>
                  <a:txBody>
                    <a:bodyPr/>
                    <a:lstStyle/>
                    <a:p>
                      <a:pPr marL="400050" indent="-171450" algn="l" defTabSz="914400" rtl="0" eaLnBrk="1" latinLnBrk="0" hangingPunct="1">
                        <a:lnSpc>
                          <a:spcPct val="107000"/>
                        </a:lnSpc>
                        <a:buFont typeface="Arial" panose="020B0604020202020204" pitchFamily="34" charset="0"/>
                        <a:buChar char="•"/>
                      </a:pPr>
                      <a:r>
                        <a:rPr lang="en-IN" sz="900" kern="1200">
                          <a:solidFill>
                            <a:schemeClr val="tx1"/>
                          </a:solidFill>
                          <a:latin typeface="+mn-lt"/>
                          <a:ea typeface="+mn-ea"/>
                          <a:cs typeface="+mn-cs"/>
                        </a:rPr>
                        <a:t>Dr. N. Srirangarajalu</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Mr. P. Mani</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9932616"/>
                  </a:ext>
                </a:extLst>
              </a:tr>
              <a:tr h="173457">
                <a:tc>
                  <a:txBody>
                    <a:bodyPr/>
                    <a:lstStyle/>
                    <a:p>
                      <a:pPr marL="400050" indent="-171450" algn="l" defTabSz="914400" rtl="0" eaLnBrk="1" latinLnBrk="0" hangingPunct="1">
                        <a:lnSpc>
                          <a:spcPct val="107000"/>
                        </a:lnSpc>
                        <a:buFont typeface="Arial" panose="020B0604020202020204" pitchFamily="34" charset="0"/>
                        <a:buChar char="•"/>
                      </a:pPr>
                      <a:r>
                        <a:rPr lang="en-IN" sz="900" kern="1200">
                          <a:solidFill>
                            <a:schemeClr val="tx1"/>
                          </a:solidFill>
                          <a:latin typeface="+mn-lt"/>
                          <a:ea typeface="+mn-ea"/>
                          <a:cs typeface="+mn-cs"/>
                        </a:rPr>
                        <a:t>Dr. P. Karthikeyan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r>
                        <a:rPr lang="en-IN" sz="900" kern="1200" dirty="0">
                          <a:solidFill>
                            <a:schemeClr val="tx1"/>
                          </a:solidFill>
                          <a:latin typeface="+mn-lt"/>
                          <a:ea typeface="+mn-ea"/>
                          <a:cs typeface="+mn-cs"/>
                        </a:rPr>
                        <a:t>Dr. K. Muthukumaran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02036165"/>
                  </a:ext>
                </a:extLst>
              </a:tr>
              <a:tr h="173457">
                <a:tc>
                  <a:txBody>
                    <a:bodyPr/>
                    <a:lstStyle/>
                    <a:p>
                      <a:pPr marL="4000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IN" sz="900" kern="1200" dirty="0">
                          <a:solidFill>
                            <a:schemeClr val="tx1"/>
                          </a:solidFill>
                          <a:latin typeface="+mn-lt"/>
                          <a:ea typeface="+mn-ea"/>
                          <a:cs typeface="+mn-cs"/>
                        </a:rPr>
                        <a:t>Dr. S. Sathish</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400050" indent="-171450" algn="l" defTabSz="914400" rtl="0" eaLnBrk="1" latinLnBrk="0" hangingPunct="1">
                        <a:lnSpc>
                          <a:spcPct val="107000"/>
                        </a:lnSpc>
                        <a:buFont typeface="Arial" panose="020B0604020202020204" pitchFamily="34" charset="0"/>
                        <a:buChar char="•"/>
                      </a:pPr>
                      <a:endParaRPr lang="en-IN" sz="900" kern="1200" dirty="0">
                        <a:solidFill>
                          <a:schemeClr val="tx1"/>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21102174"/>
                  </a:ext>
                </a:extLst>
              </a:tr>
            </a:tbl>
          </a:graphicData>
        </a:graphic>
      </p:graphicFrame>
    </p:spTree>
    <p:extLst>
      <p:ext uri="{BB962C8B-B14F-4D97-AF65-F5344CB8AC3E}">
        <p14:creationId xmlns:p14="http://schemas.microsoft.com/office/powerpoint/2010/main" val="3625411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1765</Words>
  <Application>Microsoft Office PowerPoint</Application>
  <PresentationFormat>Widescreen</PresentationFormat>
  <Paragraphs>215</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Dr. P. Ganesh</cp:lastModifiedBy>
  <cp:revision>66</cp:revision>
  <cp:lastPrinted>2026-03-17T11:00:54Z</cp:lastPrinted>
  <dcterms:created xsi:type="dcterms:W3CDTF">2026-02-16T16:23:56Z</dcterms:created>
  <dcterms:modified xsi:type="dcterms:W3CDTF">2026-04-04T05:12:05Z</dcterms:modified>
</cp:coreProperties>
</file>